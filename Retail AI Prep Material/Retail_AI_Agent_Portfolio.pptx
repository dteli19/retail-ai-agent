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and the project. This agent answers plain English questions about retail data — no SQL needed. Built on LangChain for orchestration, Groq for LLM reasoning, Databricks for cloud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core problem: traditional analytics is slow and requires SQL expertise. This agent removes that bottleneck. Any business user types a question and gets a consulting-quality answer in seconds, directly from Databricks Delta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each layer top to bottom. User types in Streamlit. LangChain manages the loop. Groq decides which tool. Tools query Databricks. Results synthesized into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differentiator: a chatbot follows a fixed script. This agent decides at each step. The Thought-Action loop is the ReAct pattern from LangChain research. The agent autonomously chose inspect first, then query, then generate insight.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Separation of concerns — each file has one job. Swap Databricks for Snowflake: only change databricks_connector.py. Swap Groq for OpenAI: one line in agent.py. This modularity is a senior engineering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each technology explain why you chose it. Why Groq over OpenAI? Free and fast. Why Databricks over local? Scale and industry relevance. Why LangChain over building from scratch? It is the industry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live Streamlit app and demonstrate each question. Show the agent reasoning chain in verbose mode if possible. Point out answers come from real Databricks Delta Tables.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6858000" y="-457200"/>
            <a:ext cx="3200400" cy="3200400"/>
          </a:xfrm>
          <a:prstGeom prst="ellipse">
            <a:avLst/>
          </a:prstGeom>
          <a:solidFill>
            <a:srgbClr val="0F3460">
              <a:alpha val="25000"/>
            </a:srgbClr>
          </a:solidFill>
          <a:ln w="12700">
            <a:solidFill>
              <a:srgbClr val="0F3460">
                <a:alpha val="25000"/>
              </a:srgbClr>
            </a:solidFill>
            <a:prstDash val="solid"/>
          </a:ln>
        </p:spPr>
      </p:sp>
      <p:sp>
        <p:nvSpPr>
          <p:cNvPr id="3" name="Shape 1"/>
          <p:cNvSpPr/>
          <p:nvPr/>
        </p:nvSpPr>
        <p:spPr>
          <a:xfrm>
            <a:off x="-731520" y="2926080"/>
            <a:ext cx="2286000" cy="2286000"/>
          </a:xfrm>
          <a:prstGeom prst="ellipse">
            <a:avLst/>
          </a:prstGeom>
          <a:solidFill>
            <a:srgbClr val="533483">
              <a:alpha val="20000"/>
            </a:srgbClr>
          </a:solidFill>
          <a:ln w="12700">
            <a:solidFill>
              <a:srgbClr val="533483">
                <a:alpha val="20000"/>
              </a:srgbClr>
            </a:solidFill>
            <a:prstDash val="solid"/>
          </a:ln>
        </p:spPr>
      </p:sp>
      <p:sp>
        <p:nvSpPr>
          <p:cNvPr id="4" name="Shape 2"/>
          <p:cNvSpPr/>
          <p:nvPr/>
        </p:nvSpPr>
        <p:spPr>
          <a:xfrm>
            <a:off x="0" y="3474720"/>
            <a:ext cx="9144000" cy="1668780"/>
          </a:xfrm>
          <a:prstGeom prst="rect">
            <a:avLst/>
          </a:prstGeom>
          <a:solidFill>
            <a:srgbClr val="0F3460">
              <a:alpha val="40000"/>
            </a:srgbClr>
          </a:solidFill>
          <a:ln w="12700">
            <a:solidFill>
              <a:srgbClr val="0F3460">
                <a:alpha val="40000"/>
              </a:srgbClr>
            </a:solidFill>
            <a:prstDash val="solid"/>
          </a:ln>
        </p:spPr>
      </p:sp>
      <p:sp>
        <p:nvSpPr>
          <p:cNvPr id="5" name="Text 3"/>
          <p:cNvSpPr/>
          <p:nvPr/>
        </p:nvSpPr>
        <p:spPr>
          <a:xfrm>
            <a:off x="457200" y="457200"/>
            <a:ext cx="914400" cy="731520"/>
          </a:xfrm>
          <a:prstGeom prst="rect">
            <a:avLst/>
          </a:prstGeom>
          <a:noFill/>
          <a:ln/>
        </p:spPr>
        <p:txBody>
          <a:bodyPr wrap="square" rtlCol="0" anchor="ctr"/>
          <a:lstStyle/>
          <a:p>
            <a:pPr indent="0" marL="0">
              <a:buNone/>
            </a:pPr>
            <a:r>
              <a:rPr lang="en-US" sz="3600" dirty="0">
                <a:solidFill>
                  <a:srgbClr val="000000"/>
                </a:solidFill>
              </a:rPr>
              <a:t>🛒</a:t>
            </a:r>
            <a:endParaRPr lang="en-US" sz="3600" dirty="0"/>
          </a:p>
        </p:txBody>
      </p:sp>
      <p:sp>
        <p:nvSpPr>
          <p:cNvPr id="6" name="Text 4"/>
          <p:cNvSpPr/>
          <p:nvPr/>
        </p:nvSpPr>
        <p:spPr>
          <a:xfrm>
            <a:off x="457200" y="1005840"/>
            <a:ext cx="8229600" cy="1005840"/>
          </a:xfrm>
          <a:prstGeom prst="rect">
            <a:avLst/>
          </a:prstGeom>
          <a:noFill/>
          <a:ln/>
        </p:spPr>
        <p:txBody>
          <a:bodyPr wrap="square"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Retail Analytics AI Agent</a:t>
            </a:r>
            <a:endParaRPr lang="en-US" sz="4000" dirty="0"/>
          </a:p>
        </p:txBody>
      </p:sp>
      <p:sp>
        <p:nvSpPr>
          <p:cNvPr id="7" name="Text 5"/>
          <p:cNvSpPr/>
          <p:nvPr/>
        </p:nvSpPr>
        <p:spPr>
          <a:xfrm>
            <a:off x="457200" y="1965960"/>
            <a:ext cx="8229600" cy="548640"/>
          </a:xfrm>
          <a:prstGeom prst="rect">
            <a:avLst/>
          </a:prstGeom>
          <a:noFill/>
          <a:ln/>
        </p:spPr>
        <p:txBody>
          <a:bodyPr wrap="square" rtlCol="0" anchor="ctr"/>
          <a:lstStyle/>
          <a:p>
            <a:pPr indent="0" marL="0">
              <a:buNone/>
            </a:pPr>
            <a:r>
              <a:rPr lang="en-US" sz="1600" i="1" dirty="0">
                <a:solidFill>
                  <a:srgbClr val="A0BFFF"/>
                </a:solidFill>
                <a:latin typeface="Calibri" pitchFamily="34" charset="0"/>
                <a:ea typeface="Calibri" pitchFamily="34" charset="-122"/>
                <a:cs typeface="Calibri" pitchFamily="34" charset="-120"/>
              </a:rPr>
              <a:t>An Agentic AI System powered by LangChain · Groq Llama 3 · Databricks</a:t>
            </a:r>
            <a:endParaRPr lang="en-US" sz="1600" dirty="0"/>
          </a:p>
        </p:txBody>
      </p:sp>
      <p:sp>
        <p:nvSpPr>
          <p:cNvPr id="8" name="Shape 6"/>
          <p:cNvSpPr/>
          <p:nvPr/>
        </p:nvSpPr>
        <p:spPr>
          <a:xfrm>
            <a:off x="457200" y="2651760"/>
            <a:ext cx="822960" cy="54864"/>
          </a:xfrm>
          <a:prstGeom prst="rect">
            <a:avLst/>
          </a:prstGeom>
          <a:solidFill>
            <a:srgbClr val="E94560"/>
          </a:solidFill>
          <a:ln w="12700">
            <a:solidFill>
              <a:srgbClr val="E94560"/>
            </a:solidFill>
            <a:prstDash val="solid"/>
          </a:ln>
        </p:spPr>
      </p:sp>
      <p:sp>
        <p:nvSpPr>
          <p:cNvPr id="9" name="Text 7"/>
          <p:cNvSpPr/>
          <p:nvPr/>
        </p:nvSpPr>
        <p:spPr>
          <a:xfrm>
            <a:off x="457200" y="3657600"/>
            <a:ext cx="5486400" cy="822960"/>
          </a:xfrm>
          <a:prstGeom prst="rect">
            <a:avLst/>
          </a:prstGeom>
          <a:noFill/>
          <a:ln/>
        </p:spPr>
        <p:txBody>
          <a:bodyPr wrap="square" rtlCol="0" anchor="ctr"/>
          <a:lstStyle/>
          <a:p>
            <a:pPr indent="0" marL="0">
              <a:buNone/>
            </a:pPr>
            <a:r>
              <a:rPr lang="en-US" sz="1300" b="1" dirty="0">
                <a:solidFill>
                  <a:srgbClr val="CBD5E1"/>
                </a:solidFill>
                <a:latin typeface="Calibri" pitchFamily="34" charset="0"/>
                <a:ea typeface="Calibri" pitchFamily="34" charset="-122"/>
                <a:cs typeface="Calibri" pitchFamily="34" charset="-120"/>
              </a:rPr>
              <a:t>Dhwani Teli</a:t>
            </a:r>
            <a:endParaRPr lang="en-US" sz="1300" dirty="0"/>
          </a:p>
          <a:p>
            <a:pPr indent="0" marL="0">
              <a:buNone/>
            </a:pPr>
            <a:r>
              <a:rPr lang="en-US" sz="1300" dirty="0">
                <a:solidFill>
                  <a:srgbClr val="CBD5E1"/>
                </a:solidFill>
                <a:latin typeface="Calibri" pitchFamily="34" charset="0"/>
                <a:ea typeface="Calibri" pitchFamily="34" charset="-122"/>
                <a:cs typeface="Calibri" pitchFamily="34" charset="-120"/>
              </a:rPr>
              <a:t>MS Business Analytics · UMass Amherst (GPA 4.0)</a:t>
            </a:r>
            <a:endParaRPr lang="en-US" sz="1300" dirty="0"/>
          </a:p>
        </p:txBody>
      </p:sp>
      <p:sp>
        <p:nvSpPr>
          <p:cNvPr id="10" name="Text 8"/>
          <p:cNvSpPr/>
          <p:nvPr/>
        </p:nvSpPr>
        <p:spPr>
          <a:xfrm>
            <a:off x="6858000" y="4480560"/>
            <a:ext cx="2011680" cy="365760"/>
          </a:xfrm>
          <a:prstGeom prst="rect">
            <a:avLst/>
          </a:prstGeom>
          <a:noFill/>
          <a:ln/>
        </p:spPr>
        <p:txBody>
          <a:bodyPr wrap="square" rtlCol="0" anchor="ctr"/>
          <a:lstStyle/>
          <a:p>
            <a:pPr algn="r" indent="0" marL="0">
              <a:buNone/>
            </a:pPr>
            <a:r>
              <a:rPr lang="en-US" sz="1100" dirty="0">
                <a:solidFill>
                  <a:srgbClr val="64748B"/>
                </a:solidFill>
                <a:latin typeface="Calibri" pitchFamily="34" charset="0"/>
                <a:ea typeface="Calibri" pitchFamily="34" charset="-122"/>
                <a:cs typeface="Calibri" pitchFamily="34" charset="-120"/>
              </a:rPr>
              <a:t>Portfolio Project ·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A2E"/>
          </a:solidFill>
          <a:ln w="12700">
            <a:solidFill>
              <a:srgbClr val="1A1A2E"/>
            </a:solidFill>
            <a:prstDash val="solid"/>
          </a:ln>
        </p:spPr>
      </p:sp>
      <p:sp>
        <p:nvSpPr>
          <p:cNvPr id="3" name="Text 1"/>
          <p:cNvSpPr/>
          <p:nvPr/>
        </p:nvSpPr>
        <p:spPr>
          <a:xfrm>
            <a:off x="365760" y="91440"/>
            <a:ext cx="841248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Business Problem &amp; Impact</a:t>
            </a:r>
            <a:endParaRPr lang="en-US" sz="2200" dirty="0"/>
          </a:p>
        </p:txBody>
      </p:sp>
      <p:sp>
        <p:nvSpPr>
          <p:cNvPr id="4" name="Shape 2"/>
          <p:cNvSpPr/>
          <p:nvPr/>
        </p:nvSpPr>
        <p:spPr>
          <a:xfrm>
            <a:off x="365760" y="868680"/>
            <a:ext cx="4023360" cy="1920240"/>
          </a:xfrm>
          <a:prstGeom prst="roundRect">
            <a:avLst>
              <a:gd name="adj" fmla="val 3810"/>
            </a:avLst>
          </a:prstGeom>
          <a:solidFill>
            <a:srgbClr val="FFF1F1"/>
          </a:solidFill>
          <a:ln/>
          <a:effectLst>
            <a:outerShdw sx="100000" sy="100000" kx="0" ky="0" algn="bl" rotWithShape="0" blurRad="76200" dist="25400" dir="2700000">
              <a:srgbClr val="000000">
                <a:alpha val="10000"/>
              </a:srgbClr>
            </a:outerShdw>
          </a:effectLst>
        </p:spPr>
      </p:sp>
      <p:sp>
        <p:nvSpPr>
          <p:cNvPr id="5" name="Text 3"/>
          <p:cNvSpPr/>
          <p:nvPr/>
        </p:nvSpPr>
        <p:spPr>
          <a:xfrm>
            <a:off x="502920" y="960120"/>
            <a:ext cx="3749040" cy="365760"/>
          </a:xfrm>
          <a:prstGeom prst="rect">
            <a:avLst/>
          </a:prstGeom>
          <a:noFill/>
          <a:ln/>
        </p:spPr>
        <p:txBody>
          <a:bodyPr wrap="square" rtlCol="0" anchor="ctr"/>
          <a:lstStyle/>
          <a:p>
            <a:pPr indent="0" marL="0">
              <a:buNone/>
            </a:pPr>
            <a:r>
              <a:rPr lang="en-US" sz="1400" b="1" dirty="0">
                <a:solidFill>
                  <a:srgbClr val="E94560"/>
                </a:solidFill>
                <a:latin typeface="Calibri" pitchFamily="34" charset="0"/>
                <a:ea typeface="Calibri" pitchFamily="34" charset="-122"/>
                <a:cs typeface="Calibri" pitchFamily="34" charset="-120"/>
              </a:rPr>
              <a:t>The Old Way</a:t>
            </a:r>
            <a:endParaRPr lang="en-US" sz="1400" dirty="0"/>
          </a:p>
        </p:txBody>
      </p:sp>
      <p:sp>
        <p:nvSpPr>
          <p:cNvPr id="6" name="Text 4"/>
          <p:cNvSpPr/>
          <p:nvPr/>
        </p:nvSpPr>
        <p:spPr>
          <a:xfrm>
            <a:off x="502920" y="1371600"/>
            <a:ext cx="3749040" cy="128016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Analyst writes SQL manually</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Hours or days per report</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Non-technical users blocked</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Insights arrive too late</a:t>
            </a:r>
            <a:endParaRPr lang="en-US" sz="1300" dirty="0"/>
          </a:p>
        </p:txBody>
      </p:sp>
      <p:sp>
        <p:nvSpPr>
          <p:cNvPr id="7" name="Shape 5"/>
          <p:cNvSpPr/>
          <p:nvPr/>
        </p:nvSpPr>
        <p:spPr>
          <a:xfrm>
            <a:off x="4754880" y="868680"/>
            <a:ext cx="4023360" cy="1920240"/>
          </a:xfrm>
          <a:prstGeom prst="roundRect">
            <a:avLst>
              <a:gd name="adj" fmla="val 3810"/>
            </a:avLst>
          </a:prstGeom>
          <a:solidFill>
            <a:srgbClr val="F0F4FF"/>
          </a:solidFill>
          <a:ln/>
          <a:effectLst>
            <a:outerShdw sx="100000" sy="100000" kx="0" ky="0" algn="bl" rotWithShape="0" blurRad="76200" dist="25400" dir="2700000">
              <a:srgbClr val="000000">
                <a:alpha val="10000"/>
              </a:srgbClr>
            </a:outerShdw>
          </a:effectLst>
        </p:spPr>
      </p:sp>
      <p:sp>
        <p:nvSpPr>
          <p:cNvPr id="8" name="Text 6"/>
          <p:cNvSpPr/>
          <p:nvPr/>
        </p:nvSpPr>
        <p:spPr>
          <a:xfrm>
            <a:off x="4892040" y="960120"/>
            <a:ext cx="3749040" cy="365760"/>
          </a:xfrm>
          <a:prstGeom prst="rect">
            <a:avLst/>
          </a:prstGeom>
          <a:noFill/>
          <a:ln/>
        </p:spPr>
        <p:txBody>
          <a:bodyPr wrap="square" rtlCol="0" anchor="ctr"/>
          <a:lstStyle/>
          <a:p>
            <a:pPr indent="0" marL="0">
              <a:buNone/>
            </a:pPr>
            <a:r>
              <a:rPr lang="en-US" sz="1400" b="1" dirty="0">
                <a:solidFill>
                  <a:srgbClr val="0F3460"/>
                </a:solidFill>
                <a:latin typeface="Calibri" pitchFamily="34" charset="0"/>
                <a:ea typeface="Calibri" pitchFamily="34" charset="-122"/>
                <a:cs typeface="Calibri" pitchFamily="34" charset="-120"/>
              </a:rPr>
              <a:t>The AI Agent Way</a:t>
            </a:r>
            <a:endParaRPr lang="en-US" sz="1400" dirty="0"/>
          </a:p>
        </p:txBody>
      </p:sp>
      <p:sp>
        <p:nvSpPr>
          <p:cNvPr id="9" name="Text 7"/>
          <p:cNvSpPr/>
          <p:nvPr/>
        </p:nvSpPr>
        <p:spPr>
          <a:xfrm>
            <a:off x="4892040" y="1371600"/>
            <a:ext cx="3749040" cy="1280160"/>
          </a:xfrm>
          <a:prstGeom prst="rect">
            <a:avLst/>
          </a:prstGeom>
          <a:noFill/>
          <a:ln/>
        </p:spPr>
        <p:txBody>
          <a:bodyPr wrap="square" rtlCol="0" anchor="ctr"/>
          <a:lstStyle/>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Plain English questions</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Answers in seconds</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Anyone can query the data</a:t>
            </a:r>
            <a:endParaRPr lang="en-US" sz="1300" dirty="0"/>
          </a:p>
          <a:p>
            <a:pPr marL="342900" indent="-342900">
              <a:buSzPct val="100000"/>
              <a:buChar char="•"/>
            </a:pPr>
            <a:r>
              <a:rPr lang="en-US" sz="1300" dirty="0">
                <a:solidFill>
                  <a:srgbClr val="374151"/>
                </a:solidFill>
                <a:latin typeface="Calibri" pitchFamily="34" charset="0"/>
                <a:ea typeface="Calibri" pitchFamily="34" charset="-122"/>
                <a:cs typeface="Calibri" pitchFamily="34" charset="-120"/>
              </a:rPr>
              <a:t>Real-time insights from Databricks</a:t>
            </a:r>
            <a:endParaRPr lang="en-US" sz="1300" dirty="0"/>
          </a:p>
        </p:txBody>
      </p:sp>
      <p:sp>
        <p:nvSpPr>
          <p:cNvPr id="10" name="Shape 8"/>
          <p:cNvSpPr/>
          <p:nvPr/>
        </p:nvSpPr>
        <p:spPr>
          <a:xfrm>
            <a:off x="365760" y="2971800"/>
            <a:ext cx="1920240" cy="1737360"/>
          </a:xfrm>
          <a:prstGeom prst="roundRect">
            <a:avLst>
              <a:gd name="adj" fmla="val 4211"/>
            </a:avLst>
          </a:prstGeom>
          <a:solidFill>
            <a:srgbClr val="F0F4FF"/>
          </a:solidFill>
          <a:ln/>
          <a:effectLst>
            <a:outerShdw sx="100000" sy="100000" kx="0" ky="0" algn="bl" rotWithShape="0" blurRad="50800" dist="12700" dir="2700000">
              <a:srgbClr val="000000">
                <a:alpha val="8000"/>
              </a:srgbClr>
            </a:outerShdw>
          </a:effectLst>
        </p:spPr>
      </p:sp>
      <p:sp>
        <p:nvSpPr>
          <p:cNvPr id="11" name="Text 9"/>
          <p:cNvSpPr/>
          <p:nvPr/>
        </p:nvSpPr>
        <p:spPr>
          <a:xfrm>
            <a:off x="365760" y="3246120"/>
            <a:ext cx="1920240" cy="502920"/>
          </a:xfrm>
          <a:prstGeom prst="rect">
            <a:avLst/>
          </a:prstGeom>
          <a:noFill/>
          <a:ln/>
        </p:spPr>
        <p:txBody>
          <a:bodyPr wrap="square"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60-70%</a:t>
            </a:r>
            <a:endParaRPr lang="en-US" sz="2200" dirty="0"/>
          </a:p>
        </p:txBody>
      </p:sp>
      <p:sp>
        <p:nvSpPr>
          <p:cNvPr id="12" name="Text 10"/>
          <p:cNvSpPr/>
          <p:nvPr/>
        </p:nvSpPr>
        <p:spPr>
          <a:xfrm>
            <a:off x="365760" y="3767328"/>
            <a:ext cx="1920240" cy="685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Reduction in</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reporting time</a:t>
            </a:r>
            <a:endParaRPr lang="en-US" sz="1100" dirty="0"/>
          </a:p>
        </p:txBody>
      </p:sp>
      <p:sp>
        <p:nvSpPr>
          <p:cNvPr id="13" name="Shape 11"/>
          <p:cNvSpPr/>
          <p:nvPr/>
        </p:nvSpPr>
        <p:spPr>
          <a:xfrm>
            <a:off x="2468880" y="2971800"/>
            <a:ext cx="1920240" cy="1737360"/>
          </a:xfrm>
          <a:prstGeom prst="roundRect">
            <a:avLst>
              <a:gd name="adj" fmla="val 4211"/>
            </a:avLst>
          </a:prstGeom>
          <a:solidFill>
            <a:srgbClr val="F0F4FF"/>
          </a:solidFill>
          <a:ln/>
          <a:effectLst>
            <a:outerShdw sx="100000" sy="100000" kx="0" ky="0" algn="bl" rotWithShape="0" blurRad="50800" dist="12700" dir="2700000">
              <a:srgbClr val="000000">
                <a:alpha val="8000"/>
              </a:srgbClr>
            </a:outerShdw>
          </a:effectLst>
        </p:spPr>
      </p:sp>
      <p:sp>
        <p:nvSpPr>
          <p:cNvPr id="14" name="Text 12"/>
          <p:cNvSpPr/>
          <p:nvPr/>
        </p:nvSpPr>
        <p:spPr>
          <a:xfrm>
            <a:off x="2468880" y="3246120"/>
            <a:ext cx="1920240" cy="502920"/>
          </a:xfrm>
          <a:prstGeom prst="rect">
            <a:avLst/>
          </a:prstGeom>
          <a:noFill/>
          <a:ln/>
        </p:spPr>
        <p:txBody>
          <a:bodyPr wrap="square"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0 SQL</a:t>
            </a:r>
            <a:endParaRPr lang="en-US" sz="2200" dirty="0"/>
          </a:p>
        </p:txBody>
      </p:sp>
      <p:sp>
        <p:nvSpPr>
          <p:cNvPr id="15" name="Text 13"/>
          <p:cNvSpPr/>
          <p:nvPr/>
        </p:nvSpPr>
        <p:spPr>
          <a:xfrm>
            <a:off x="2468880" y="3767328"/>
            <a:ext cx="1920240" cy="685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Required from</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business users</a:t>
            </a:r>
            <a:endParaRPr lang="en-US" sz="1100" dirty="0"/>
          </a:p>
        </p:txBody>
      </p:sp>
      <p:sp>
        <p:nvSpPr>
          <p:cNvPr id="16" name="Shape 14"/>
          <p:cNvSpPr/>
          <p:nvPr/>
        </p:nvSpPr>
        <p:spPr>
          <a:xfrm>
            <a:off x="4572000" y="2971800"/>
            <a:ext cx="1920240" cy="1737360"/>
          </a:xfrm>
          <a:prstGeom prst="roundRect">
            <a:avLst>
              <a:gd name="adj" fmla="val 4211"/>
            </a:avLst>
          </a:prstGeom>
          <a:solidFill>
            <a:srgbClr val="F0F4FF"/>
          </a:solidFill>
          <a:ln/>
          <a:effectLst>
            <a:outerShdw sx="100000" sy="100000" kx="0" ky="0" algn="bl" rotWithShape="0" blurRad="50800" dist="12700" dir="2700000">
              <a:srgbClr val="000000">
                <a:alpha val="8000"/>
              </a:srgbClr>
            </a:outerShdw>
          </a:effectLst>
        </p:spPr>
      </p:sp>
      <p:sp>
        <p:nvSpPr>
          <p:cNvPr id="17" name="Text 15"/>
          <p:cNvSpPr/>
          <p:nvPr/>
        </p:nvSpPr>
        <p:spPr>
          <a:xfrm>
            <a:off x="4572000" y="3246120"/>
            <a:ext cx="1920240" cy="502920"/>
          </a:xfrm>
          <a:prstGeom prst="rect">
            <a:avLst/>
          </a:prstGeom>
          <a:noFill/>
          <a:ln/>
        </p:spPr>
        <p:txBody>
          <a:bodyPr wrap="square"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Real-time</a:t>
            </a:r>
            <a:endParaRPr lang="en-US" sz="2200" dirty="0"/>
          </a:p>
        </p:txBody>
      </p:sp>
      <p:sp>
        <p:nvSpPr>
          <p:cNvPr id="18" name="Text 16"/>
          <p:cNvSpPr/>
          <p:nvPr/>
        </p:nvSpPr>
        <p:spPr>
          <a:xfrm>
            <a:off x="4572000" y="3767328"/>
            <a:ext cx="1920240" cy="685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Insights from</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Delta Tables</a:t>
            </a:r>
            <a:endParaRPr lang="en-US" sz="1100" dirty="0"/>
          </a:p>
        </p:txBody>
      </p:sp>
      <p:sp>
        <p:nvSpPr>
          <p:cNvPr id="19" name="Shape 17"/>
          <p:cNvSpPr/>
          <p:nvPr/>
        </p:nvSpPr>
        <p:spPr>
          <a:xfrm>
            <a:off x="6675120" y="2971800"/>
            <a:ext cx="1920240" cy="1737360"/>
          </a:xfrm>
          <a:prstGeom prst="roundRect">
            <a:avLst>
              <a:gd name="adj" fmla="val 4211"/>
            </a:avLst>
          </a:prstGeom>
          <a:solidFill>
            <a:srgbClr val="F0F4FF"/>
          </a:solidFill>
          <a:ln/>
          <a:effectLst>
            <a:outerShdw sx="100000" sy="100000" kx="0" ky="0" algn="bl" rotWithShape="0" blurRad="50800" dist="12700" dir="2700000">
              <a:srgbClr val="000000">
                <a:alpha val="8000"/>
              </a:srgbClr>
            </a:outerShdw>
          </a:effectLst>
        </p:spPr>
      </p:sp>
      <p:sp>
        <p:nvSpPr>
          <p:cNvPr id="20" name="Text 18"/>
          <p:cNvSpPr/>
          <p:nvPr/>
        </p:nvSpPr>
        <p:spPr>
          <a:xfrm>
            <a:off x="6675120" y="3246120"/>
            <a:ext cx="1920240" cy="502920"/>
          </a:xfrm>
          <a:prstGeom prst="rect">
            <a:avLst/>
          </a:prstGeom>
          <a:noFill/>
          <a:ln/>
        </p:spPr>
        <p:txBody>
          <a:bodyPr wrap="square" rtlCol="0" anchor="ctr"/>
          <a:lstStyle/>
          <a:p>
            <a:pPr algn="ctr" indent="0" marL="0">
              <a:buNone/>
            </a:pPr>
            <a:r>
              <a:rPr lang="en-US" sz="2200" b="1" dirty="0">
                <a:solidFill>
                  <a:srgbClr val="1A1A2E"/>
                </a:solidFill>
                <a:latin typeface="Cambria" pitchFamily="34" charset="0"/>
                <a:ea typeface="Cambria" pitchFamily="34" charset="-122"/>
                <a:cs typeface="Cambria" pitchFamily="34" charset="-120"/>
              </a:rPr>
              <a:t>3 Tools</a:t>
            </a:r>
            <a:endParaRPr lang="en-US" sz="2200" dirty="0"/>
          </a:p>
        </p:txBody>
      </p:sp>
      <p:sp>
        <p:nvSpPr>
          <p:cNvPr id="21" name="Text 19"/>
          <p:cNvSpPr/>
          <p:nvPr/>
        </p:nvSpPr>
        <p:spPr>
          <a:xfrm>
            <a:off x="6675120" y="3767328"/>
            <a:ext cx="1920240" cy="685800"/>
          </a:xfrm>
          <a:prstGeom prst="rect">
            <a:avLst/>
          </a:prstGeom>
          <a:noFill/>
          <a:ln/>
        </p:spPr>
        <p:txBody>
          <a:bodyPr wrap="square" rtlCol="0" anchor="ctr"/>
          <a:lstStyle/>
          <a:p>
            <a:pPr algn="ctr" indent="0" marL="0">
              <a:buNone/>
            </a:pPr>
            <a:r>
              <a:rPr lang="en-US" sz="1100" dirty="0">
                <a:solidFill>
                  <a:srgbClr val="64748B"/>
                </a:solidFill>
                <a:latin typeface="Calibri" pitchFamily="34" charset="0"/>
                <a:ea typeface="Calibri" pitchFamily="34" charset="-122"/>
                <a:cs typeface="Calibri" pitchFamily="34" charset="-120"/>
              </a:rPr>
              <a:t>Agent uses</a:t>
            </a:r>
            <a:endParaRPr lang="en-US" sz="1100" dirty="0"/>
          </a:p>
          <a:p>
            <a:pPr algn="ctr" indent="0" marL="0">
              <a:buNone/>
            </a:pPr>
            <a:r>
              <a:rPr lang="en-US" sz="1100" dirty="0">
                <a:solidFill>
                  <a:srgbClr val="64748B"/>
                </a:solidFill>
                <a:latin typeface="Calibri" pitchFamily="34" charset="0"/>
                <a:ea typeface="Calibri" pitchFamily="34" charset="-122"/>
                <a:cs typeface="Calibri" pitchFamily="34" charset="-120"/>
              </a:rPr>
              <a:t>autonomously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A2E"/>
          </a:solidFill>
          <a:ln w="12700">
            <a:solidFill>
              <a:srgbClr val="1A1A2E"/>
            </a:solidFill>
            <a:prstDash val="solid"/>
          </a:ln>
        </p:spPr>
      </p:sp>
      <p:sp>
        <p:nvSpPr>
          <p:cNvPr id="3" name="Text 1"/>
          <p:cNvSpPr/>
          <p:nvPr/>
        </p:nvSpPr>
        <p:spPr>
          <a:xfrm>
            <a:off x="365760" y="91440"/>
            <a:ext cx="841248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System Architecture</a:t>
            </a:r>
            <a:endParaRPr lang="en-US" sz="2200" dirty="0"/>
          </a:p>
        </p:txBody>
      </p:sp>
      <p:sp>
        <p:nvSpPr>
          <p:cNvPr id="4" name="Shape 2"/>
          <p:cNvSpPr/>
          <p:nvPr/>
        </p:nvSpPr>
        <p:spPr>
          <a:xfrm>
            <a:off x="914400" y="841248"/>
            <a:ext cx="7315200" cy="658368"/>
          </a:xfrm>
          <a:prstGeom prst="roundRect">
            <a:avLst>
              <a:gd name="adj" fmla="val 8333"/>
            </a:avLst>
          </a:prstGeom>
          <a:solidFill>
            <a:srgbClr val="EEF2FF"/>
          </a:solidFill>
          <a:ln w="19050">
            <a:solidFill>
              <a:srgbClr val="818CF8"/>
            </a:solidFill>
            <a:prstDash val="solid"/>
          </a:ln>
        </p:spPr>
      </p:sp>
      <p:sp>
        <p:nvSpPr>
          <p:cNvPr id="5" name="Text 3"/>
          <p:cNvSpPr/>
          <p:nvPr/>
        </p:nvSpPr>
        <p:spPr>
          <a:xfrm>
            <a:off x="1097280" y="905256"/>
            <a:ext cx="2743200" cy="256032"/>
          </a:xfrm>
          <a:prstGeom prst="rect">
            <a:avLst/>
          </a:prstGeom>
          <a:noFill/>
          <a:ln/>
        </p:spPr>
        <p:txBody>
          <a:bodyPr wrap="square" rtlCol="0" anchor="ctr"/>
          <a:lstStyle/>
          <a:p>
            <a:pPr indent="0" marL="0">
              <a:buNone/>
            </a:pPr>
            <a:r>
              <a:rPr lang="en-US" sz="1300" b="1" dirty="0">
                <a:solidFill>
                  <a:srgbClr val="3730A3"/>
                </a:solidFill>
                <a:latin typeface="Calibri" pitchFamily="34" charset="0"/>
                <a:ea typeface="Calibri" pitchFamily="34" charset="-122"/>
                <a:cs typeface="Calibri" pitchFamily="34" charset="-120"/>
              </a:rPr>
              <a:t>User Interface</a:t>
            </a:r>
            <a:endParaRPr lang="en-US" sz="1300" dirty="0"/>
          </a:p>
        </p:txBody>
      </p:sp>
      <p:sp>
        <p:nvSpPr>
          <p:cNvPr id="6" name="Text 4"/>
          <p:cNvSpPr/>
          <p:nvPr/>
        </p:nvSpPr>
        <p:spPr>
          <a:xfrm>
            <a:off x="1097280" y="1188720"/>
            <a:ext cx="6949440" cy="23774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Streamlit Web App · Chat + Plotly Charts · Live Metrics</a:t>
            </a:r>
            <a:endParaRPr lang="en-US" sz="1100" dirty="0"/>
          </a:p>
        </p:txBody>
      </p:sp>
      <p:sp>
        <p:nvSpPr>
          <p:cNvPr id="7" name="Shape 5"/>
          <p:cNvSpPr/>
          <p:nvPr/>
        </p:nvSpPr>
        <p:spPr>
          <a:xfrm>
            <a:off x="4526280" y="1499616"/>
            <a:ext cx="0" cy="146304"/>
          </a:xfrm>
          <a:prstGeom prst="line">
            <a:avLst/>
          </a:prstGeom>
          <a:noFill/>
          <a:ln w="19050">
            <a:solidFill>
              <a:srgbClr val="94A3B8"/>
            </a:solidFill>
            <a:prstDash val="sysDot"/>
          </a:ln>
        </p:spPr>
      </p:sp>
      <p:sp>
        <p:nvSpPr>
          <p:cNvPr id="8" name="Shape 6"/>
          <p:cNvSpPr/>
          <p:nvPr/>
        </p:nvSpPr>
        <p:spPr>
          <a:xfrm>
            <a:off x="914400" y="1645920"/>
            <a:ext cx="7315200" cy="658368"/>
          </a:xfrm>
          <a:prstGeom prst="roundRect">
            <a:avLst>
              <a:gd name="adj" fmla="val 8333"/>
            </a:avLst>
          </a:prstGeom>
          <a:solidFill>
            <a:srgbClr val="F0FDF4"/>
          </a:solidFill>
          <a:ln w="19050">
            <a:solidFill>
              <a:srgbClr val="4ADE80"/>
            </a:solidFill>
            <a:prstDash val="solid"/>
          </a:ln>
        </p:spPr>
      </p:sp>
      <p:sp>
        <p:nvSpPr>
          <p:cNvPr id="9" name="Text 7"/>
          <p:cNvSpPr/>
          <p:nvPr/>
        </p:nvSpPr>
        <p:spPr>
          <a:xfrm>
            <a:off x="1097280" y="1709928"/>
            <a:ext cx="2743200" cy="256032"/>
          </a:xfrm>
          <a:prstGeom prst="rect">
            <a:avLst/>
          </a:prstGeom>
          <a:noFill/>
          <a:ln/>
        </p:spPr>
        <p:txBody>
          <a:bodyPr wrap="square" rtlCol="0" anchor="ctr"/>
          <a:lstStyle/>
          <a:p>
            <a:pPr indent="0" marL="0">
              <a:buNone/>
            </a:pPr>
            <a:r>
              <a:rPr lang="en-US" sz="1300" b="1" dirty="0">
                <a:solidFill>
                  <a:srgbClr val="166534"/>
                </a:solidFill>
                <a:latin typeface="Calibri" pitchFamily="34" charset="0"/>
                <a:ea typeface="Calibri" pitchFamily="34" charset="-122"/>
                <a:cs typeface="Calibri" pitchFamily="34" charset="-120"/>
              </a:rPr>
              <a:t>Orchestration Layer</a:t>
            </a:r>
            <a:endParaRPr lang="en-US" sz="1300" dirty="0"/>
          </a:p>
        </p:txBody>
      </p:sp>
      <p:sp>
        <p:nvSpPr>
          <p:cNvPr id="10" name="Text 8"/>
          <p:cNvSpPr/>
          <p:nvPr/>
        </p:nvSpPr>
        <p:spPr>
          <a:xfrm>
            <a:off x="1097280" y="1993392"/>
            <a:ext cx="6949440" cy="23774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LangChain AgentExecutor · ReAct Prompting · Tool Management</a:t>
            </a:r>
            <a:endParaRPr lang="en-US" sz="1100" dirty="0"/>
          </a:p>
        </p:txBody>
      </p:sp>
      <p:sp>
        <p:nvSpPr>
          <p:cNvPr id="11" name="Shape 9"/>
          <p:cNvSpPr/>
          <p:nvPr/>
        </p:nvSpPr>
        <p:spPr>
          <a:xfrm>
            <a:off x="4526280" y="2304288"/>
            <a:ext cx="0" cy="146304"/>
          </a:xfrm>
          <a:prstGeom prst="line">
            <a:avLst/>
          </a:prstGeom>
          <a:noFill/>
          <a:ln w="19050">
            <a:solidFill>
              <a:srgbClr val="94A3B8"/>
            </a:solidFill>
            <a:prstDash val="sysDot"/>
          </a:ln>
        </p:spPr>
      </p:sp>
      <p:sp>
        <p:nvSpPr>
          <p:cNvPr id="12" name="Shape 10"/>
          <p:cNvSpPr/>
          <p:nvPr/>
        </p:nvSpPr>
        <p:spPr>
          <a:xfrm>
            <a:off x="914400" y="2450592"/>
            <a:ext cx="7315200" cy="658368"/>
          </a:xfrm>
          <a:prstGeom prst="roundRect">
            <a:avLst>
              <a:gd name="adj" fmla="val 8333"/>
            </a:avLst>
          </a:prstGeom>
          <a:solidFill>
            <a:srgbClr val="FFFBEB"/>
          </a:solidFill>
          <a:ln w="19050">
            <a:solidFill>
              <a:srgbClr val="FCD34D"/>
            </a:solidFill>
            <a:prstDash val="solid"/>
          </a:ln>
        </p:spPr>
      </p:sp>
      <p:sp>
        <p:nvSpPr>
          <p:cNvPr id="13" name="Text 11"/>
          <p:cNvSpPr/>
          <p:nvPr/>
        </p:nvSpPr>
        <p:spPr>
          <a:xfrm>
            <a:off x="1097280" y="2514600"/>
            <a:ext cx="2743200" cy="256032"/>
          </a:xfrm>
          <a:prstGeom prst="rect">
            <a:avLst/>
          </a:prstGeom>
          <a:noFill/>
          <a:ln/>
        </p:spPr>
        <p:txBody>
          <a:bodyPr wrap="square" rtlCol="0" anchor="ctr"/>
          <a:lstStyle/>
          <a:p>
            <a:pPr indent="0" marL="0">
              <a:buNone/>
            </a:pPr>
            <a:r>
              <a:rPr lang="en-US" sz="1300" b="1" dirty="0">
                <a:solidFill>
                  <a:srgbClr val="92400E"/>
                </a:solidFill>
                <a:latin typeface="Calibri" pitchFamily="34" charset="0"/>
                <a:ea typeface="Calibri" pitchFamily="34" charset="-122"/>
                <a:cs typeface="Calibri" pitchFamily="34" charset="-120"/>
              </a:rPr>
              <a:t>LLM Reasoning</a:t>
            </a:r>
            <a:endParaRPr lang="en-US" sz="1300" dirty="0"/>
          </a:p>
        </p:txBody>
      </p:sp>
      <p:sp>
        <p:nvSpPr>
          <p:cNvPr id="14" name="Text 12"/>
          <p:cNvSpPr/>
          <p:nvPr/>
        </p:nvSpPr>
        <p:spPr>
          <a:xfrm>
            <a:off x="1097280" y="2798064"/>
            <a:ext cx="6949440" cy="23774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Groq · Llama 3.3 70B · temperature=0 · Deterministic Answers</a:t>
            </a:r>
            <a:endParaRPr lang="en-US" sz="1100" dirty="0"/>
          </a:p>
        </p:txBody>
      </p:sp>
      <p:sp>
        <p:nvSpPr>
          <p:cNvPr id="15" name="Shape 13"/>
          <p:cNvSpPr/>
          <p:nvPr/>
        </p:nvSpPr>
        <p:spPr>
          <a:xfrm>
            <a:off x="4526280" y="3108960"/>
            <a:ext cx="0" cy="146304"/>
          </a:xfrm>
          <a:prstGeom prst="line">
            <a:avLst/>
          </a:prstGeom>
          <a:noFill/>
          <a:ln w="19050">
            <a:solidFill>
              <a:srgbClr val="94A3B8"/>
            </a:solidFill>
            <a:prstDash val="sysDot"/>
          </a:ln>
        </p:spPr>
      </p:sp>
      <p:sp>
        <p:nvSpPr>
          <p:cNvPr id="16" name="Shape 14"/>
          <p:cNvSpPr/>
          <p:nvPr/>
        </p:nvSpPr>
        <p:spPr>
          <a:xfrm>
            <a:off x="914400" y="3255264"/>
            <a:ext cx="7315200" cy="658368"/>
          </a:xfrm>
          <a:prstGeom prst="roundRect">
            <a:avLst>
              <a:gd name="adj" fmla="val 8333"/>
            </a:avLst>
          </a:prstGeom>
          <a:solidFill>
            <a:srgbClr val="FFF1F2"/>
          </a:solidFill>
          <a:ln w="19050">
            <a:solidFill>
              <a:srgbClr val="FB7185"/>
            </a:solidFill>
            <a:prstDash val="solid"/>
          </a:ln>
        </p:spPr>
      </p:sp>
      <p:sp>
        <p:nvSpPr>
          <p:cNvPr id="17" name="Text 15"/>
          <p:cNvSpPr/>
          <p:nvPr/>
        </p:nvSpPr>
        <p:spPr>
          <a:xfrm>
            <a:off x="1097280" y="3319272"/>
            <a:ext cx="2743200" cy="256032"/>
          </a:xfrm>
          <a:prstGeom prst="rect">
            <a:avLst/>
          </a:prstGeom>
          <a:noFill/>
          <a:ln/>
        </p:spPr>
        <p:txBody>
          <a:bodyPr wrap="square" rtlCol="0" anchor="ctr"/>
          <a:lstStyle/>
          <a:p>
            <a:pPr indent="0" marL="0">
              <a:buNone/>
            </a:pPr>
            <a:r>
              <a:rPr lang="en-US" sz="1300" b="1" dirty="0">
                <a:solidFill>
                  <a:srgbClr val="9F1239"/>
                </a:solidFill>
                <a:latin typeface="Calibri" pitchFamily="34" charset="0"/>
                <a:ea typeface="Calibri" pitchFamily="34" charset="-122"/>
                <a:cs typeface="Calibri" pitchFamily="34" charset="-120"/>
              </a:rPr>
              <a:t>Agent Tools (3)</a:t>
            </a:r>
            <a:endParaRPr lang="en-US" sz="1300" dirty="0"/>
          </a:p>
        </p:txBody>
      </p:sp>
      <p:sp>
        <p:nvSpPr>
          <p:cNvPr id="18" name="Text 16"/>
          <p:cNvSpPr/>
          <p:nvPr/>
        </p:nvSpPr>
        <p:spPr>
          <a:xfrm>
            <a:off x="1097280" y="3602736"/>
            <a:ext cx="6949440" cy="23774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inspect_data  ·  query_data (8 query types)  ·  generate_insight</a:t>
            </a:r>
            <a:endParaRPr lang="en-US" sz="1100" dirty="0"/>
          </a:p>
        </p:txBody>
      </p:sp>
      <p:sp>
        <p:nvSpPr>
          <p:cNvPr id="19" name="Shape 17"/>
          <p:cNvSpPr/>
          <p:nvPr/>
        </p:nvSpPr>
        <p:spPr>
          <a:xfrm>
            <a:off x="4526280" y="3913632"/>
            <a:ext cx="0" cy="146304"/>
          </a:xfrm>
          <a:prstGeom prst="line">
            <a:avLst/>
          </a:prstGeom>
          <a:noFill/>
          <a:ln w="19050">
            <a:solidFill>
              <a:srgbClr val="94A3B8"/>
            </a:solidFill>
            <a:prstDash val="sysDot"/>
          </a:ln>
        </p:spPr>
      </p:sp>
      <p:sp>
        <p:nvSpPr>
          <p:cNvPr id="20" name="Shape 18"/>
          <p:cNvSpPr/>
          <p:nvPr/>
        </p:nvSpPr>
        <p:spPr>
          <a:xfrm>
            <a:off x="914400" y="4059936"/>
            <a:ext cx="7315200" cy="658368"/>
          </a:xfrm>
          <a:prstGeom prst="roundRect">
            <a:avLst>
              <a:gd name="adj" fmla="val 8333"/>
            </a:avLst>
          </a:prstGeom>
          <a:solidFill>
            <a:srgbClr val="F0F4FF"/>
          </a:solidFill>
          <a:ln w="19050">
            <a:solidFill>
              <a:srgbClr val="60A5FA"/>
            </a:solidFill>
            <a:prstDash val="solid"/>
          </a:ln>
        </p:spPr>
      </p:sp>
      <p:sp>
        <p:nvSpPr>
          <p:cNvPr id="21" name="Text 19"/>
          <p:cNvSpPr/>
          <p:nvPr/>
        </p:nvSpPr>
        <p:spPr>
          <a:xfrm>
            <a:off x="1097280" y="4123944"/>
            <a:ext cx="2743200" cy="256032"/>
          </a:xfrm>
          <a:prstGeom prst="rect">
            <a:avLst/>
          </a:prstGeom>
          <a:noFill/>
          <a:ln/>
        </p:spPr>
        <p:txBody>
          <a:bodyPr wrap="square" rtlCol="0" anchor="ctr"/>
          <a:lstStyle/>
          <a:p>
            <a:pPr indent="0" marL="0">
              <a:buNone/>
            </a:pPr>
            <a:r>
              <a:rPr lang="en-US" sz="1300" b="1" dirty="0">
                <a:solidFill>
                  <a:srgbClr val="1E3A8A"/>
                </a:solidFill>
                <a:latin typeface="Calibri" pitchFamily="34" charset="0"/>
                <a:ea typeface="Calibri" pitchFamily="34" charset="-122"/>
                <a:cs typeface="Calibri" pitchFamily="34" charset="-120"/>
              </a:rPr>
              <a:t>Data Layer</a:t>
            </a:r>
            <a:endParaRPr lang="en-US" sz="1300" dirty="0"/>
          </a:p>
        </p:txBody>
      </p:sp>
      <p:sp>
        <p:nvSpPr>
          <p:cNvPr id="22" name="Text 20"/>
          <p:cNvSpPr/>
          <p:nvPr/>
        </p:nvSpPr>
        <p:spPr>
          <a:xfrm>
            <a:off x="1097280" y="4407408"/>
            <a:ext cx="6949440" cy="237744"/>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Databricks Serverless SQL Warehouse · Delta Tables · Unity Catalog</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A2E"/>
          </a:solidFill>
          <a:ln w="12700">
            <a:solidFill>
              <a:srgbClr val="1A1A2E"/>
            </a:solidFill>
            <a:prstDash val="solid"/>
          </a:ln>
        </p:spPr>
      </p:sp>
      <p:sp>
        <p:nvSpPr>
          <p:cNvPr id="3" name="Text 1"/>
          <p:cNvSpPr/>
          <p:nvPr/>
        </p:nvSpPr>
        <p:spPr>
          <a:xfrm>
            <a:off x="365760" y="91440"/>
            <a:ext cx="841248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What Makes It Agentic — The ReAct Loop</a:t>
            </a:r>
            <a:endParaRPr lang="en-US" sz="2200" dirty="0"/>
          </a:p>
        </p:txBody>
      </p:sp>
      <p:sp>
        <p:nvSpPr>
          <p:cNvPr id="4" name="Shape 2"/>
          <p:cNvSpPr/>
          <p:nvPr/>
        </p:nvSpPr>
        <p:spPr>
          <a:xfrm>
            <a:off x="365760" y="804672"/>
            <a:ext cx="8412480" cy="384048"/>
          </a:xfrm>
          <a:prstGeom prst="roundRect">
            <a:avLst>
              <a:gd name="adj" fmla="val 11905"/>
            </a:avLst>
          </a:prstGeom>
          <a:solidFill>
            <a:srgbClr val="F0F4FF"/>
          </a:solidFill>
          <a:ln w="6350">
            <a:solidFill>
              <a:srgbClr val="C7D2FE"/>
            </a:solidFill>
            <a:prstDash val="solid"/>
          </a:ln>
        </p:spPr>
      </p:sp>
      <p:sp>
        <p:nvSpPr>
          <p:cNvPr id="5" name="Text 3"/>
          <p:cNvSpPr/>
          <p:nvPr/>
        </p:nvSpPr>
        <p:spPr>
          <a:xfrm>
            <a:off x="548640" y="850392"/>
            <a:ext cx="8046720" cy="292608"/>
          </a:xfrm>
          <a:prstGeom prst="rect">
            <a:avLst/>
          </a:prstGeom>
          <a:noFill/>
          <a:ln/>
        </p:spPr>
        <p:txBody>
          <a:bodyPr wrap="square" rtlCol="0" anchor="ctr"/>
          <a:lstStyle/>
          <a:p>
            <a:pPr indent="0" marL="0">
              <a:buNone/>
            </a:pPr>
            <a:r>
              <a:rPr lang="en-US" sz="1300" b="1" dirty="0">
                <a:solidFill>
                  <a:srgbClr val="1A1A2E"/>
                </a:solidFill>
                <a:latin typeface="Calibri" pitchFamily="34" charset="0"/>
                <a:ea typeface="Calibri" pitchFamily="34" charset="-122"/>
                <a:cs typeface="Calibri" pitchFamily="34" charset="-120"/>
              </a:rPr>
              <a:t>User: "Which promotions are giving the best ROI?"</a:t>
            </a:r>
            <a:endParaRPr lang="en-US" sz="1300" dirty="0"/>
          </a:p>
        </p:txBody>
      </p:sp>
      <p:sp>
        <p:nvSpPr>
          <p:cNvPr id="6" name="Shape 4"/>
          <p:cNvSpPr/>
          <p:nvPr/>
        </p:nvSpPr>
        <p:spPr>
          <a:xfrm>
            <a:off x="365760" y="1298448"/>
            <a:ext cx="8412480" cy="493776"/>
          </a:xfrm>
          <a:prstGeom prst="roundRect">
            <a:avLst>
              <a:gd name="adj" fmla="val 9259"/>
            </a:avLst>
          </a:prstGeom>
          <a:solidFill>
            <a:srgbClr val="EEF2FF"/>
          </a:solidFill>
          <a:ln w="6350">
            <a:solidFill>
              <a:srgbClr val="E2E8F0"/>
            </a:solidFill>
            <a:prstDash val="solid"/>
          </a:ln>
        </p:spPr>
      </p:sp>
      <p:sp>
        <p:nvSpPr>
          <p:cNvPr id="7" name="Text 5"/>
          <p:cNvSpPr/>
          <p:nvPr/>
        </p:nvSpPr>
        <p:spPr>
          <a:xfrm>
            <a:off x="502920" y="1371600"/>
            <a:ext cx="1371600" cy="256032"/>
          </a:xfrm>
          <a:prstGeom prst="rect">
            <a:avLst/>
          </a:prstGeom>
          <a:noFill/>
          <a:ln/>
        </p:spPr>
        <p:txBody>
          <a:bodyPr wrap="square" rtlCol="0" anchor="ctr"/>
          <a:lstStyle/>
          <a:p>
            <a:pPr indent="0" marL="0">
              <a:buNone/>
            </a:pPr>
            <a:r>
              <a:rPr lang="en-US" sz="1000" b="1" dirty="0">
                <a:solidFill>
                  <a:srgbClr val="3730A3"/>
                </a:solidFill>
                <a:latin typeface="Calibri" pitchFamily="34" charset="0"/>
                <a:ea typeface="Calibri" pitchFamily="34" charset="-122"/>
                <a:cs typeface="Calibri" pitchFamily="34" charset="-120"/>
              </a:rPr>
              <a:t>THOUGHT</a:t>
            </a:r>
            <a:endParaRPr lang="en-US" sz="1000" dirty="0"/>
          </a:p>
        </p:txBody>
      </p:sp>
      <p:sp>
        <p:nvSpPr>
          <p:cNvPr id="8" name="Text 6"/>
          <p:cNvSpPr/>
          <p:nvPr/>
        </p:nvSpPr>
        <p:spPr>
          <a:xfrm>
            <a:off x="1920240" y="1353312"/>
            <a:ext cx="6675120" cy="38404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 need to understand the promotions dataset first — what columns and data exist?</a:t>
            </a:r>
            <a:endParaRPr lang="en-US" sz="1100" dirty="0"/>
          </a:p>
        </p:txBody>
      </p:sp>
      <p:sp>
        <p:nvSpPr>
          <p:cNvPr id="9" name="Shape 7"/>
          <p:cNvSpPr/>
          <p:nvPr/>
        </p:nvSpPr>
        <p:spPr>
          <a:xfrm>
            <a:off x="365760" y="1901952"/>
            <a:ext cx="8412480" cy="493776"/>
          </a:xfrm>
          <a:prstGeom prst="roundRect">
            <a:avLst>
              <a:gd name="adj" fmla="val 9259"/>
            </a:avLst>
          </a:prstGeom>
          <a:solidFill>
            <a:srgbClr val="F0FDF4"/>
          </a:solidFill>
          <a:ln w="6350">
            <a:solidFill>
              <a:srgbClr val="E2E8F0"/>
            </a:solidFill>
            <a:prstDash val="solid"/>
          </a:ln>
        </p:spPr>
      </p:sp>
      <p:sp>
        <p:nvSpPr>
          <p:cNvPr id="10" name="Text 8"/>
          <p:cNvSpPr/>
          <p:nvPr/>
        </p:nvSpPr>
        <p:spPr>
          <a:xfrm>
            <a:off x="502920" y="1975104"/>
            <a:ext cx="1371600" cy="256032"/>
          </a:xfrm>
          <a:prstGeom prst="rect">
            <a:avLst/>
          </a:prstGeom>
          <a:noFill/>
          <a:ln/>
        </p:spPr>
        <p:txBody>
          <a:bodyPr wrap="square"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ACTION</a:t>
            </a:r>
            <a:endParaRPr lang="en-US" sz="1000" dirty="0"/>
          </a:p>
        </p:txBody>
      </p:sp>
      <p:sp>
        <p:nvSpPr>
          <p:cNvPr id="11" name="Text 9"/>
          <p:cNvSpPr/>
          <p:nvPr/>
        </p:nvSpPr>
        <p:spPr>
          <a:xfrm>
            <a:off x="1920240" y="1956816"/>
            <a:ext cx="6675120" cy="38404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inspect_data("promotions")  →  returns schema, 50 rows, columns: promo_name, channel, revenue_generated, cost</a:t>
            </a:r>
            <a:endParaRPr lang="en-US" sz="1100" dirty="0"/>
          </a:p>
        </p:txBody>
      </p:sp>
      <p:sp>
        <p:nvSpPr>
          <p:cNvPr id="12" name="Shape 10"/>
          <p:cNvSpPr/>
          <p:nvPr/>
        </p:nvSpPr>
        <p:spPr>
          <a:xfrm>
            <a:off x="365760" y="2505456"/>
            <a:ext cx="8412480" cy="493776"/>
          </a:xfrm>
          <a:prstGeom prst="roundRect">
            <a:avLst>
              <a:gd name="adj" fmla="val 9259"/>
            </a:avLst>
          </a:prstGeom>
          <a:solidFill>
            <a:srgbClr val="EEF2FF"/>
          </a:solidFill>
          <a:ln w="6350">
            <a:solidFill>
              <a:srgbClr val="E2E8F0"/>
            </a:solidFill>
            <a:prstDash val="solid"/>
          </a:ln>
        </p:spPr>
      </p:sp>
      <p:sp>
        <p:nvSpPr>
          <p:cNvPr id="13" name="Text 11"/>
          <p:cNvSpPr/>
          <p:nvPr/>
        </p:nvSpPr>
        <p:spPr>
          <a:xfrm>
            <a:off x="502920" y="2578608"/>
            <a:ext cx="1371600" cy="256032"/>
          </a:xfrm>
          <a:prstGeom prst="rect">
            <a:avLst/>
          </a:prstGeom>
          <a:noFill/>
          <a:ln/>
        </p:spPr>
        <p:txBody>
          <a:bodyPr wrap="square" rtlCol="0" anchor="ctr"/>
          <a:lstStyle/>
          <a:p>
            <a:pPr indent="0" marL="0">
              <a:buNone/>
            </a:pPr>
            <a:r>
              <a:rPr lang="en-US" sz="1000" b="1" dirty="0">
                <a:solidFill>
                  <a:srgbClr val="3730A3"/>
                </a:solidFill>
                <a:latin typeface="Calibri" pitchFamily="34" charset="0"/>
                <a:ea typeface="Calibri" pitchFamily="34" charset="-122"/>
                <a:cs typeface="Calibri" pitchFamily="34" charset="-120"/>
              </a:rPr>
              <a:t>THOUGHT</a:t>
            </a:r>
            <a:endParaRPr lang="en-US" sz="1000" dirty="0"/>
          </a:p>
        </p:txBody>
      </p:sp>
      <p:sp>
        <p:nvSpPr>
          <p:cNvPr id="14" name="Text 12"/>
          <p:cNvSpPr/>
          <p:nvPr/>
        </p:nvSpPr>
        <p:spPr>
          <a:xfrm>
            <a:off x="1920240" y="2560320"/>
            <a:ext cx="6675120" cy="38404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Now I will query individual promotions ranked by ROI — (revenue - cost) / cost</a:t>
            </a:r>
            <a:endParaRPr lang="en-US" sz="1100" dirty="0"/>
          </a:p>
        </p:txBody>
      </p:sp>
      <p:sp>
        <p:nvSpPr>
          <p:cNvPr id="15" name="Shape 13"/>
          <p:cNvSpPr/>
          <p:nvPr/>
        </p:nvSpPr>
        <p:spPr>
          <a:xfrm>
            <a:off x="365760" y="3108960"/>
            <a:ext cx="8412480" cy="493776"/>
          </a:xfrm>
          <a:prstGeom prst="roundRect">
            <a:avLst>
              <a:gd name="adj" fmla="val 9259"/>
            </a:avLst>
          </a:prstGeom>
          <a:solidFill>
            <a:srgbClr val="F0FDF4"/>
          </a:solidFill>
          <a:ln w="6350">
            <a:solidFill>
              <a:srgbClr val="E2E8F0"/>
            </a:solidFill>
            <a:prstDash val="solid"/>
          </a:ln>
        </p:spPr>
      </p:sp>
      <p:sp>
        <p:nvSpPr>
          <p:cNvPr id="16" name="Text 14"/>
          <p:cNvSpPr/>
          <p:nvPr/>
        </p:nvSpPr>
        <p:spPr>
          <a:xfrm>
            <a:off x="502920" y="3182112"/>
            <a:ext cx="1371600" cy="256032"/>
          </a:xfrm>
          <a:prstGeom prst="rect">
            <a:avLst/>
          </a:prstGeom>
          <a:noFill/>
          <a:ln/>
        </p:spPr>
        <p:txBody>
          <a:bodyPr wrap="square" rtlCol="0" anchor="ctr"/>
          <a:lstStyle/>
          <a:p>
            <a:pPr indent="0" marL="0">
              <a:buNone/>
            </a:pPr>
            <a:r>
              <a:rPr lang="en-US" sz="1000" b="1" dirty="0">
                <a:solidFill>
                  <a:srgbClr val="166534"/>
                </a:solidFill>
                <a:latin typeface="Calibri" pitchFamily="34" charset="0"/>
                <a:ea typeface="Calibri" pitchFamily="34" charset="-122"/>
                <a:cs typeface="Calibri" pitchFamily="34" charset="-120"/>
              </a:rPr>
              <a:t>ACTION</a:t>
            </a:r>
            <a:endParaRPr lang="en-US" sz="1000" dirty="0"/>
          </a:p>
        </p:txBody>
      </p:sp>
      <p:sp>
        <p:nvSpPr>
          <p:cNvPr id="17" name="Text 15"/>
          <p:cNvSpPr/>
          <p:nvPr/>
        </p:nvSpPr>
        <p:spPr>
          <a:xfrm>
            <a:off x="1920240" y="3163824"/>
            <a:ext cx="6675120" cy="38404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query_data("top promotions ranked by ROI")  →  Databricks SQL executes  →  returns ranked table</a:t>
            </a:r>
            <a:endParaRPr lang="en-US" sz="1100" dirty="0"/>
          </a:p>
        </p:txBody>
      </p:sp>
      <p:sp>
        <p:nvSpPr>
          <p:cNvPr id="18" name="Shape 16"/>
          <p:cNvSpPr/>
          <p:nvPr/>
        </p:nvSpPr>
        <p:spPr>
          <a:xfrm>
            <a:off x="365760" y="3712464"/>
            <a:ext cx="8412480" cy="493776"/>
          </a:xfrm>
          <a:prstGeom prst="roundRect">
            <a:avLst>
              <a:gd name="adj" fmla="val 9259"/>
            </a:avLst>
          </a:prstGeom>
          <a:solidFill>
            <a:srgbClr val="FFFBEB"/>
          </a:solidFill>
          <a:ln w="6350">
            <a:solidFill>
              <a:srgbClr val="E2E8F0"/>
            </a:solidFill>
            <a:prstDash val="solid"/>
          </a:ln>
        </p:spPr>
      </p:sp>
      <p:sp>
        <p:nvSpPr>
          <p:cNvPr id="19" name="Text 17"/>
          <p:cNvSpPr/>
          <p:nvPr/>
        </p:nvSpPr>
        <p:spPr>
          <a:xfrm>
            <a:off x="502920" y="3785616"/>
            <a:ext cx="1371600" cy="256032"/>
          </a:xfrm>
          <a:prstGeom prst="rect">
            <a:avLst/>
          </a:prstGeom>
          <a:noFill/>
          <a:ln/>
        </p:spPr>
        <p:txBody>
          <a:bodyPr wrap="square" rtlCol="0" anchor="ctr"/>
          <a:lstStyle/>
          <a:p>
            <a:pPr indent="0" marL="0">
              <a:buNone/>
            </a:pPr>
            <a:r>
              <a:rPr lang="en-US" sz="1000" b="1" dirty="0">
                <a:solidFill>
                  <a:srgbClr val="92400E"/>
                </a:solidFill>
                <a:latin typeface="Calibri" pitchFamily="34" charset="0"/>
                <a:ea typeface="Calibri" pitchFamily="34" charset="-122"/>
                <a:cs typeface="Calibri" pitchFamily="34" charset="-120"/>
              </a:rPr>
              <a:t>ACTION</a:t>
            </a:r>
            <a:endParaRPr lang="en-US" sz="1000" dirty="0"/>
          </a:p>
        </p:txBody>
      </p:sp>
      <p:sp>
        <p:nvSpPr>
          <p:cNvPr id="20" name="Text 18"/>
          <p:cNvSpPr/>
          <p:nvPr/>
        </p:nvSpPr>
        <p:spPr>
          <a:xfrm>
            <a:off x="1920240" y="3767328"/>
            <a:ext cx="6675120" cy="38404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generate_insight(data)  →  structures findings into executive summary + recommendations</a:t>
            </a:r>
            <a:endParaRPr lang="en-US" sz="1100" dirty="0"/>
          </a:p>
        </p:txBody>
      </p:sp>
      <p:sp>
        <p:nvSpPr>
          <p:cNvPr id="21" name="Shape 19"/>
          <p:cNvSpPr/>
          <p:nvPr/>
        </p:nvSpPr>
        <p:spPr>
          <a:xfrm>
            <a:off x="365760" y="4315968"/>
            <a:ext cx="8412480" cy="493776"/>
          </a:xfrm>
          <a:prstGeom prst="roundRect">
            <a:avLst>
              <a:gd name="adj" fmla="val 9259"/>
            </a:avLst>
          </a:prstGeom>
          <a:solidFill>
            <a:srgbClr val="F0F4FF"/>
          </a:solidFill>
          <a:ln w="6350">
            <a:solidFill>
              <a:srgbClr val="E2E8F0"/>
            </a:solidFill>
            <a:prstDash val="solid"/>
          </a:ln>
        </p:spPr>
      </p:sp>
      <p:sp>
        <p:nvSpPr>
          <p:cNvPr id="22" name="Text 20"/>
          <p:cNvSpPr/>
          <p:nvPr/>
        </p:nvSpPr>
        <p:spPr>
          <a:xfrm>
            <a:off x="502920" y="4389120"/>
            <a:ext cx="1371600" cy="256032"/>
          </a:xfrm>
          <a:prstGeom prst="rect">
            <a:avLst/>
          </a:prstGeom>
          <a:noFill/>
          <a:ln/>
        </p:spPr>
        <p:txBody>
          <a:bodyPr wrap="square" rtlCol="0" anchor="ctr"/>
          <a:lstStyle/>
          <a:p>
            <a:pPr indent="0" marL="0">
              <a:buNone/>
            </a:pPr>
            <a:r>
              <a:rPr lang="en-US" sz="1000" b="1" dirty="0">
                <a:solidFill>
                  <a:srgbClr val="1E3A8A"/>
                </a:solidFill>
                <a:latin typeface="Calibri" pitchFamily="34" charset="0"/>
                <a:ea typeface="Calibri" pitchFamily="34" charset="-122"/>
                <a:cs typeface="Calibri" pitchFamily="34" charset="-120"/>
              </a:rPr>
              <a:t>ANSWER</a:t>
            </a:r>
            <a:endParaRPr lang="en-US" sz="1000" dirty="0"/>
          </a:p>
        </p:txBody>
      </p:sp>
      <p:sp>
        <p:nvSpPr>
          <p:cNvPr id="23" name="Text 21"/>
          <p:cNvSpPr/>
          <p:nvPr/>
        </p:nvSpPr>
        <p:spPr>
          <a:xfrm>
            <a:off x="1920240" y="4370832"/>
            <a:ext cx="6675120" cy="38404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Executive Summary + Top 3 Key Findings + Two Business Recommendations delivered</a:t>
            </a:r>
            <a:endParaRPr lang="en-US" sz="1100" dirty="0"/>
          </a:p>
        </p:txBody>
      </p:sp>
      <p:sp>
        <p:nvSpPr>
          <p:cNvPr id="24" name="Text 22"/>
          <p:cNvSpPr/>
          <p:nvPr/>
        </p:nvSpPr>
        <p:spPr>
          <a:xfrm>
            <a:off x="365760" y="4983480"/>
            <a:ext cx="8412480" cy="182880"/>
          </a:xfrm>
          <a:prstGeom prst="rect">
            <a:avLst/>
          </a:prstGeom>
          <a:noFill/>
          <a:ln/>
        </p:spPr>
        <p:txBody>
          <a:bodyPr wrap="square" rtlCol="0" anchor="ctr"/>
          <a:lstStyle/>
          <a:p>
            <a:pPr algn="ctr" indent="0" marL="0">
              <a:buNone/>
            </a:pPr>
            <a:r>
              <a:rPr lang="en-US" sz="1000" i="1" dirty="0">
                <a:solidFill>
                  <a:srgbClr val="64748B"/>
                </a:solidFill>
                <a:latin typeface="Calibri" pitchFamily="34" charset="0"/>
                <a:ea typeface="Calibri" pitchFamily="34" charset="-122"/>
                <a:cs typeface="Calibri" pitchFamily="34" charset="-120"/>
              </a:rPr>
              <a:t>Nobody programmed this sequence. The agent reasoned its way through it. That autonomy is what makes it agentic.</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A2E"/>
          </a:solidFill>
          <a:ln w="12700">
            <a:solidFill>
              <a:srgbClr val="1A1A2E"/>
            </a:solidFill>
            <a:prstDash val="solid"/>
          </a:ln>
        </p:spPr>
      </p:sp>
      <p:sp>
        <p:nvSpPr>
          <p:cNvPr id="3" name="Text 1"/>
          <p:cNvSpPr/>
          <p:nvPr/>
        </p:nvSpPr>
        <p:spPr>
          <a:xfrm>
            <a:off x="365760" y="91440"/>
            <a:ext cx="841248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Code Walkthrough — 6 Files, One Agent</a:t>
            </a:r>
            <a:endParaRPr lang="en-US" sz="2200" dirty="0"/>
          </a:p>
        </p:txBody>
      </p:sp>
      <p:sp>
        <p:nvSpPr>
          <p:cNvPr id="4" name="Shape 2"/>
          <p:cNvSpPr/>
          <p:nvPr/>
        </p:nvSpPr>
        <p:spPr>
          <a:xfrm>
            <a:off x="320040" y="804672"/>
            <a:ext cx="4206240" cy="1261872"/>
          </a:xfrm>
          <a:prstGeom prst="roundRect">
            <a:avLst>
              <a:gd name="adj" fmla="val 5072"/>
            </a:avLst>
          </a:prstGeom>
          <a:solidFill>
            <a:srgbClr val="EEF2FF"/>
          </a:solidFill>
          <a:ln/>
          <a:effectLst>
            <a:outerShdw sx="100000" sy="100000" kx="0" ky="0" algn="bl" rotWithShape="0" blurRad="50800" dist="12700" dir="2700000">
              <a:srgbClr val="000000">
                <a:alpha val="8000"/>
              </a:srgbClr>
            </a:outerShdw>
          </a:effectLst>
        </p:spPr>
      </p:sp>
      <p:sp>
        <p:nvSpPr>
          <p:cNvPr id="5" name="Text 3"/>
          <p:cNvSpPr/>
          <p:nvPr/>
        </p:nvSpPr>
        <p:spPr>
          <a:xfrm>
            <a:off x="429768" y="896112"/>
            <a:ext cx="3931920" cy="256032"/>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mock_data.py</a:t>
            </a:r>
            <a:endParaRPr lang="en-US" sz="1200" dirty="0"/>
          </a:p>
        </p:txBody>
      </p:sp>
      <p:sp>
        <p:nvSpPr>
          <p:cNvPr id="6" name="Text 4"/>
          <p:cNvSpPr/>
          <p:nvPr/>
        </p:nvSpPr>
        <p:spPr>
          <a:xfrm>
            <a:off x="429768" y="1152144"/>
            <a:ext cx="3931920" cy="201168"/>
          </a:xfrm>
          <a:prstGeom prst="rect">
            <a:avLst/>
          </a:prstGeom>
          <a:noFill/>
          <a:ln/>
        </p:spPr>
        <p:txBody>
          <a:bodyPr wrap="square" rtlCol="0" anchor="ctr"/>
          <a:lstStyle/>
          <a:p>
            <a:pPr indent="0" marL="0">
              <a:buNone/>
            </a:pPr>
            <a:r>
              <a:rPr lang="en-US" sz="1000" b="1" dirty="0">
                <a:solidFill>
                  <a:srgbClr val="533483"/>
                </a:solidFill>
                <a:latin typeface="Calibri" pitchFamily="34" charset="0"/>
                <a:ea typeface="Calibri" pitchFamily="34" charset="-122"/>
                <a:cs typeface="Calibri" pitchFamily="34" charset="-120"/>
              </a:rPr>
              <a:t>Data Generator</a:t>
            </a:r>
            <a:endParaRPr lang="en-US" sz="1000" dirty="0"/>
          </a:p>
        </p:txBody>
      </p:sp>
      <p:sp>
        <p:nvSpPr>
          <p:cNvPr id="7" name="Text 5"/>
          <p:cNvSpPr/>
          <p:nvPr/>
        </p:nvSpPr>
        <p:spPr>
          <a:xfrm>
            <a:off x="429768" y="1353312"/>
            <a:ext cx="3931920" cy="64008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Faker library creates 200 customers with RFM segments, 1,000 transactions, 50 promotions. Exports CSVs uploaded to Databricks Delta Tables.</a:t>
            </a:r>
            <a:endParaRPr lang="en-US" sz="1000" dirty="0"/>
          </a:p>
        </p:txBody>
      </p:sp>
      <p:sp>
        <p:nvSpPr>
          <p:cNvPr id="8" name="Shape 6"/>
          <p:cNvSpPr/>
          <p:nvPr/>
        </p:nvSpPr>
        <p:spPr>
          <a:xfrm>
            <a:off x="4800600" y="804672"/>
            <a:ext cx="4206240" cy="1261872"/>
          </a:xfrm>
          <a:prstGeom prst="roundRect">
            <a:avLst>
              <a:gd name="adj" fmla="val 5072"/>
            </a:avLst>
          </a:prstGeom>
          <a:solidFill>
            <a:srgbClr val="F0FDF4"/>
          </a:solidFill>
          <a:ln/>
          <a:effectLst>
            <a:outerShdw sx="100000" sy="100000" kx="0" ky="0" algn="bl" rotWithShape="0" blurRad="50800" dist="12700" dir="2700000">
              <a:srgbClr val="000000">
                <a:alpha val="8000"/>
              </a:srgbClr>
            </a:outerShdw>
          </a:effectLst>
        </p:spPr>
      </p:sp>
      <p:sp>
        <p:nvSpPr>
          <p:cNvPr id="9" name="Text 7"/>
          <p:cNvSpPr/>
          <p:nvPr/>
        </p:nvSpPr>
        <p:spPr>
          <a:xfrm>
            <a:off x="4910328" y="896112"/>
            <a:ext cx="3931920" cy="256032"/>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databricks_connector.py</a:t>
            </a:r>
            <a:endParaRPr lang="en-US" sz="1200" dirty="0"/>
          </a:p>
        </p:txBody>
      </p:sp>
      <p:sp>
        <p:nvSpPr>
          <p:cNvPr id="10" name="Text 8"/>
          <p:cNvSpPr/>
          <p:nvPr/>
        </p:nvSpPr>
        <p:spPr>
          <a:xfrm>
            <a:off x="4910328" y="1152144"/>
            <a:ext cx="3931920" cy="201168"/>
          </a:xfrm>
          <a:prstGeom prst="rect">
            <a:avLst/>
          </a:prstGeom>
          <a:noFill/>
          <a:ln/>
        </p:spPr>
        <p:txBody>
          <a:bodyPr wrap="square" rtlCol="0" anchor="ctr"/>
          <a:lstStyle/>
          <a:p>
            <a:pPr indent="0" marL="0">
              <a:buNone/>
            </a:pPr>
            <a:r>
              <a:rPr lang="en-US" sz="1000" b="1" dirty="0">
                <a:solidFill>
                  <a:srgbClr val="533483"/>
                </a:solidFill>
                <a:latin typeface="Calibri" pitchFamily="34" charset="0"/>
                <a:ea typeface="Calibri" pitchFamily="34" charset="-122"/>
                <a:cs typeface="Calibri" pitchFamily="34" charset="-120"/>
              </a:rPr>
              <a:t>Data Layer</a:t>
            </a:r>
            <a:endParaRPr lang="en-US" sz="1000" dirty="0"/>
          </a:p>
        </p:txBody>
      </p:sp>
      <p:sp>
        <p:nvSpPr>
          <p:cNvPr id="11" name="Text 9"/>
          <p:cNvSpPr/>
          <p:nvPr/>
        </p:nvSpPr>
        <p:spPr>
          <a:xfrm>
            <a:off x="4910328" y="1353312"/>
            <a:ext cx="3931920" cy="64008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Connects to Databricks SQL Warehouse via databricks-sql-connector. run_query() executes SQL and returns results to agent tools.</a:t>
            </a:r>
            <a:endParaRPr lang="en-US" sz="1000" dirty="0"/>
          </a:p>
        </p:txBody>
      </p:sp>
      <p:sp>
        <p:nvSpPr>
          <p:cNvPr id="12" name="Shape 10"/>
          <p:cNvSpPr/>
          <p:nvPr/>
        </p:nvSpPr>
        <p:spPr>
          <a:xfrm>
            <a:off x="320040" y="2221992"/>
            <a:ext cx="4206240" cy="1261872"/>
          </a:xfrm>
          <a:prstGeom prst="roundRect">
            <a:avLst>
              <a:gd name="adj" fmla="val 5072"/>
            </a:avLst>
          </a:prstGeom>
          <a:solidFill>
            <a:srgbClr val="FFFBEB"/>
          </a:solidFill>
          <a:ln/>
          <a:effectLst>
            <a:outerShdw sx="100000" sy="100000" kx="0" ky="0" algn="bl" rotWithShape="0" blurRad="50800" dist="12700" dir="2700000">
              <a:srgbClr val="000000">
                <a:alpha val="8000"/>
              </a:srgbClr>
            </a:outerShdw>
          </a:effectLst>
        </p:spPr>
      </p:sp>
      <p:sp>
        <p:nvSpPr>
          <p:cNvPr id="13" name="Text 11"/>
          <p:cNvSpPr/>
          <p:nvPr/>
        </p:nvSpPr>
        <p:spPr>
          <a:xfrm>
            <a:off x="429768" y="2313432"/>
            <a:ext cx="3931920" cy="256032"/>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prompts.py</a:t>
            </a:r>
            <a:endParaRPr lang="en-US" sz="1200" dirty="0"/>
          </a:p>
        </p:txBody>
      </p:sp>
      <p:sp>
        <p:nvSpPr>
          <p:cNvPr id="14" name="Text 12"/>
          <p:cNvSpPr/>
          <p:nvPr/>
        </p:nvSpPr>
        <p:spPr>
          <a:xfrm>
            <a:off x="429768" y="2569464"/>
            <a:ext cx="3931920" cy="201168"/>
          </a:xfrm>
          <a:prstGeom prst="rect">
            <a:avLst/>
          </a:prstGeom>
          <a:noFill/>
          <a:ln/>
        </p:spPr>
        <p:txBody>
          <a:bodyPr wrap="square" rtlCol="0" anchor="ctr"/>
          <a:lstStyle/>
          <a:p>
            <a:pPr indent="0" marL="0">
              <a:buNone/>
            </a:pPr>
            <a:r>
              <a:rPr lang="en-US" sz="1000" b="1" dirty="0">
                <a:solidFill>
                  <a:srgbClr val="533483"/>
                </a:solidFill>
                <a:latin typeface="Calibri" pitchFamily="34" charset="0"/>
                <a:ea typeface="Calibri" pitchFamily="34" charset="-122"/>
                <a:cs typeface="Calibri" pitchFamily="34" charset="-120"/>
              </a:rPr>
              <a:t>Agent Instructions</a:t>
            </a:r>
            <a:endParaRPr lang="en-US" sz="1000" dirty="0"/>
          </a:p>
        </p:txBody>
      </p:sp>
      <p:sp>
        <p:nvSpPr>
          <p:cNvPr id="15" name="Text 13"/>
          <p:cNvSpPr/>
          <p:nvPr/>
        </p:nvSpPr>
        <p:spPr>
          <a:xfrm>
            <a:off x="429768" y="2770632"/>
            <a:ext cx="3931920" cy="64008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SYSTEM_PROMPT defines role, datasets, rules. REACT_PROMPT forces Thought → Action → Observation reasoning on every question.</a:t>
            </a:r>
            <a:endParaRPr lang="en-US" sz="1000" dirty="0"/>
          </a:p>
        </p:txBody>
      </p:sp>
      <p:sp>
        <p:nvSpPr>
          <p:cNvPr id="16" name="Shape 14"/>
          <p:cNvSpPr/>
          <p:nvPr/>
        </p:nvSpPr>
        <p:spPr>
          <a:xfrm>
            <a:off x="4800600" y="2221992"/>
            <a:ext cx="4206240" cy="1261872"/>
          </a:xfrm>
          <a:prstGeom prst="roundRect">
            <a:avLst>
              <a:gd name="adj" fmla="val 5072"/>
            </a:avLst>
          </a:prstGeom>
          <a:solidFill>
            <a:srgbClr val="FFF1F2"/>
          </a:solidFill>
          <a:ln/>
          <a:effectLst>
            <a:outerShdw sx="100000" sy="100000" kx="0" ky="0" algn="bl" rotWithShape="0" blurRad="50800" dist="12700" dir="2700000">
              <a:srgbClr val="000000">
                <a:alpha val="8000"/>
              </a:srgbClr>
            </a:outerShdw>
          </a:effectLst>
        </p:spPr>
      </p:sp>
      <p:sp>
        <p:nvSpPr>
          <p:cNvPr id="17" name="Text 15"/>
          <p:cNvSpPr/>
          <p:nvPr/>
        </p:nvSpPr>
        <p:spPr>
          <a:xfrm>
            <a:off x="4910328" y="2313432"/>
            <a:ext cx="3931920" cy="256032"/>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tools.py</a:t>
            </a:r>
            <a:endParaRPr lang="en-US" sz="1200" dirty="0"/>
          </a:p>
        </p:txBody>
      </p:sp>
      <p:sp>
        <p:nvSpPr>
          <p:cNvPr id="18" name="Text 16"/>
          <p:cNvSpPr/>
          <p:nvPr/>
        </p:nvSpPr>
        <p:spPr>
          <a:xfrm>
            <a:off x="4910328" y="2569464"/>
            <a:ext cx="3931920" cy="201168"/>
          </a:xfrm>
          <a:prstGeom prst="rect">
            <a:avLst/>
          </a:prstGeom>
          <a:noFill/>
          <a:ln/>
        </p:spPr>
        <p:txBody>
          <a:bodyPr wrap="square" rtlCol="0" anchor="ctr"/>
          <a:lstStyle/>
          <a:p>
            <a:pPr indent="0" marL="0">
              <a:buNone/>
            </a:pPr>
            <a:r>
              <a:rPr lang="en-US" sz="1000" b="1" dirty="0">
                <a:solidFill>
                  <a:srgbClr val="533483"/>
                </a:solidFill>
                <a:latin typeface="Calibri" pitchFamily="34" charset="0"/>
                <a:ea typeface="Calibri" pitchFamily="34" charset="-122"/>
                <a:cs typeface="Calibri" pitchFamily="34" charset="-120"/>
              </a:rPr>
              <a:t>Agent Tools (@tool)</a:t>
            </a:r>
            <a:endParaRPr lang="en-US" sz="1000" dirty="0"/>
          </a:p>
        </p:txBody>
      </p:sp>
      <p:sp>
        <p:nvSpPr>
          <p:cNvPr id="19" name="Text 17"/>
          <p:cNvSpPr/>
          <p:nvPr/>
        </p:nvSpPr>
        <p:spPr>
          <a:xfrm>
            <a:off x="4910328" y="2770632"/>
            <a:ext cx="3931920" cy="64008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inspect_data: schema lookup. query_data: 8 query types to Databricks SQL. generate_insight: exec summary + key findings + recommendations.</a:t>
            </a:r>
            <a:endParaRPr lang="en-US" sz="1000" dirty="0"/>
          </a:p>
        </p:txBody>
      </p:sp>
      <p:sp>
        <p:nvSpPr>
          <p:cNvPr id="20" name="Shape 18"/>
          <p:cNvSpPr/>
          <p:nvPr/>
        </p:nvSpPr>
        <p:spPr>
          <a:xfrm>
            <a:off x="320040" y="3639312"/>
            <a:ext cx="4206240" cy="1261872"/>
          </a:xfrm>
          <a:prstGeom prst="roundRect">
            <a:avLst>
              <a:gd name="adj" fmla="val 5072"/>
            </a:avLst>
          </a:prstGeom>
          <a:solidFill>
            <a:srgbClr val="F5F3FF"/>
          </a:solidFill>
          <a:ln/>
          <a:effectLst>
            <a:outerShdw sx="100000" sy="100000" kx="0" ky="0" algn="bl" rotWithShape="0" blurRad="50800" dist="12700" dir="2700000">
              <a:srgbClr val="000000">
                <a:alpha val="8000"/>
              </a:srgbClr>
            </a:outerShdw>
          </a:effectLst>
        </p:spPr>
      </p:sp>
      <p:sp>
        <p:nvSpPr>
          <p:cNvPr id="21" name="Text 19"/>
          <p:cNvSpPr/>
          <p:nvPr/>
        </p:nvSpPr>
        <p:spPr>
          <a:xfrm>
            <a:off x="429768" y="3730752"/>
            <a:ext cx="3931920" cy="256032"/>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agent.py</a:t>
            </a:r>
            <a:endParaRPr lang="en-US" sz="1200" dirty="0"/>
          </a:p>
        </p:txBody>
      </p:sp>
      <p:sp>
        <p:nvSpPr>
          <p:cNvPr id="22" name="Text 20"/>
          <p:cNvSpPr/>
          <p:nvPr/>
        </p:nvSpPr>
        <p:spPr>
          <a:xfrm>
            <a:off x="429768" y="3986784"/>
            <a:ext cx="3931920" cy="201168"/>
          </a:xfrm>
          <a:prstGeom prst="rect">
            <a:avLst/>
          </a:prstGeom>
          <a:noFill/>
          <a:ln/>
        </p:spPr>
        <p:txBody>
          <a:bodyPr wrap="square" rtlCol="0" anchor="ctr"/>
          <a:lstStyle/>
          <a:p>
            <a:pPr indent="0" marL="0">
              <a:buNone/>
            </a:pPr>
            <a:r>
              <a:rPr lang="en-US" sz="1000" b="1" dirty="0">
                <a:solidFill>
                  <a:srgbClr val="533483"/>
                </a:solidFill>
                <a:latin typeface="Calibri" pitchFamily="34" charset="0"/>
                <a:ea typeface="Calibri" pitchFamily="34" charset="-122"/>
                <a:cs typeface="Calibri" pitchFamily="34" charset="-120"/>
              </a:rPr>
              <a:t>Agent Engine</a:t>
            </a:r>
            <a:endParaRPr lang="en-US" sz="1000" dirty="0"/>
          </a:p>
        </p:txBody>
      </p:sp>
      <p:sp>
        <p:nvSpPr>
          <p:cNvPr id="23" name="Text 21"/>
          <p:cNvSpPr/>
          <p:nvPr/>
        </p:nvSpPr>
        <p:spPr>
          <a:xfrm>
            <a:off x="429768" y="4187952"/>
            <a:ext cx="3931920" cy="64008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AgentExecutor + ReAct prompt. Groq Llama 3 at temperature=0. max_iterations=15. Retry logic for rate limits. verbose=True shows chain.</a:t>
            </a:r>
            <a:endParaRPr lang="en-US" sz="1000" dirty="0"/>
          </a:p>
        </p:txBody>
      </p:sp>
      <p:sp>
        <p:nvSpPr>
          <p:cNvPr id="24" name="Shape 22"/>
          <p:cNvSpPr/>
          <p:nvPr/>
        </p:nvSpPr>
        <p:spPr>
          <a:xfrm>
            <a:off x="4800600" y="3639312"/>
            <a:ext cx="4206240" cy="1261872"/>
          </a:xfrm>
          <a:prstGeom prst="roundRect">
            <a:avLst>
              <a:gd name="adj" fmla="val 5072"/>
            </a:avLst>
          </a:prstGeom>
          <a:solidFill>
            <a:srgbClr val="F0F4FF"/>
          </a:solidFill>
          <a:ln/>
          <a:effectLst>
            <a:outerShdw sx="100000" sy="100000" kx="0" ky="0" algn="bl" rotWithShape="0" blurRad="50800" dist="12700" dir="2700000">
              <a:srgbClr val="000000">
                <a:alpha val="8000"/>
              </a:srgbClr>
            </a:outerShdw>
          </a:effectLst>
        </p:spPr>
      </p:sp>
      <p:sp>
        <p:nvSpPr>
          <p:cNvPr id="25" name="Text 23"/>
          <p:cNvSpPr/>
          <p:nvPr/>
        </p:nvSpPr>
        <p:spPr>
          <a:xfrm>
            <a:off x="4910328" y="3730752"/>
            <a:ext cx="3931920" cy="256032"/>
          </a:xfrm>
          <a:prstGeom prst="rect">
            <a:avLst/>
          </a:prstGeom>
          <a:noFill/>
          <a:ln/>
        </p:spPr>
        <p:txBody>
          <a:bodyPr wrap="square" rtlCol="0" anchor="ctr"/>
          <a:lstStyle/>
          <a:p>
            <a:pPr indent="0" marL="0">
              <a:buNone/>
            </a:pPr>
            <a:r>
              <a:rPr lang="en-US" sz="1200" b="1" dirty="0">
                <a:solidFill>
                  <a:srgbClr val="1A1A2E"/>
                </a:solidFill>
                <a:latin typeface="Calibri" pitchFamily="34" charset="0"/>
                <a:ea typeface="Calibri" pitchFamily="34" charset="-122"/>
                <a:cs typeface="Calibri" pitchFamily="34" charset="-120"/>
              </a:rPr>
              <a:t>streamlit_app.py</a:t>
            </a:r>
            <a:endParaRPr lang="en-US" sz="1200" dirty="0"/>
          </a:p>
        </p:txBody>
      </p:sp>
      <p:sp>
        <p:nvSpPr>
          <p:cNvPr id="26" name="Text 24"/>
          <p:cNvSpPr/>
          <p:nvPr/>
        </p:nvSpPr>
        <p:spPr>
          <a:xfrm>
            <a:off x="4910328" y="3986784"/>
            <a:ext cx="3931920" cy="201168"/>
          </a:xfrm>
          <a:prstGeom prst="rect">
            <a:avLst/>
          </a:prstGeom>
          <a:noFill/>
          <a:ln/>
        </p:spPr>
        <p:txBody>
          <a:bodyPr wrap="square" rtlCol="0" anchor="ctr"/>
          <a:lstStyle/>
          <a:p>
            <a:pPr indent="0" marL="0">
              <a:buNone/>
            </a:pPr>
            <a:r>
              <a:rPr lang="en-US" sz="1000" b="1" dirty="0">
                <a:solidFill>
                  <a:srgbClr val="533483"/>
                </a:solidFill>
                <a:latin typeface="Calibri" pitchFamily="34" charset="0"/>
                <a:ea typeface="Calibri" pitchFamily="34" charset="-122"/>
                <a:cs typeface="Calibri" pitchFamily="34" charset="-120"/>
              </a:rPr>
              <a:t>Web UI</a:t>
            </a:r>
            <a:endParaRPr lang="en-US" sz="1000" dirty="0"/>
          </a:p>
        </p:txBody>
      </p:sp>
      <p:sp>
        <p:nvSpPr>
          <p:cNvPr id="27" name="Text 25"/>
          <p:cNvSpPr/>
          <p:nvPr/>
        </p:nvSpPr>
        <p:spPr>
          <a:xfrm>
            <a:off x="4910328" y="4187952"/>
            <a:ext cx="3931920" cy="640080"/>
          </a:xfrm>
          <a:prstGeom prst="rect">
            <a:avLst/>
          </a:prstGeom>
          <a:noFill/>
          <a:ln/>
        </p:spPr>
        <p:txBody>
          <a:bodyPr wrap="square" rtlCol="0" anchor="ctr"/>
          <a:lstStyle/>
          <a:p>
            <a:pPr indent="0" marL="0">
              <a:buNone/>
            </a:pPr>
            <a:r>
              <a:rPr lang="en-US" sz="1000" dirty="0">
                <a:solidFill>
                  <a:srgbClr val="374151"/>
                </a:solidFill>
                <a:latin typeface="Calibri" pitchFamily="34" charset="0"/>
                <a:ea typeface="Calibri" pitchFamily="34" charset="-122"/>
                <a:cs typeface="Calibri" pitchFamily="34" charset="-120"/>
              </a:rPr>
              <a:t>Live Databricks metrics on load. Chat interface with session history. Auto Plotly charts by question keyword. Hosted at streamlit.io.</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1A1A2E"/>
          </a:solidFill>
          <a:ln w="12700">
            <a:solidFill>
              <a:srgbClr val="1A1A2E"/>
            </a:solidFill>
            <a:prstDash val="solid"/>
          </a:ln>
        </p:spPr>
      </p:sp>
      <p:sp>
        <p:nvSpPr>
          <p:cNvPr id="3" name="Text 1"/>
          <p:cNvSpPr/>
          <p:nvPr/>
        </p:nvSpPr>
        <p:spPr>
          <a:xfrm>
            <a:off x="365760" y="91440"/>
            <a:ext cx="8412480" cy="502920"/>
          </a:xfrm>
          <a:prstGeom prst="rect">
            <a:avLst/>
          </a:prstGeom>
          <a:noFill/>
          <a:ln/>
        </p:spPr>
        <p:txBody>
          <a:bodyPr wrap="square"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Tech Stack &amp; Design Decisions</a:t>
            </a:r>
            <a:endParaRPr lang="en-US" sz="2200" dirty="0"/>
          </a:p>
        </p:txBody>
      </p:sp>
      <p:sp>
        <p:nvSpPr>
          <p:cNvPr id="4" name="Shape 2"/>
          <p:cNvSpPr/>
          <p:nvPr/>
        </p:nvSpPr>
        <p:spPr>
          <a:xfrm>
            <a:off x="320040" y="804672"/>
            <a:ext cx="4206240" cy="1261872"/>
          </a:xfrm>
          <a:prstGeom prst="roundRect">
            <a:avLst>
              <a:gd name="adj" fmla="val 5072"/>
            </a:avLst>
          </a:prstGeom>
          <a:solidFill>
            <a:srgbClr val="EEF2FF"/>
          </a:solidFill>
          <a:ln/>
          <a:effectLst>
            <a:outerShdw sx="100000" sy="100000" kx="0" ky="0" algn="bl" rotWithShape="0" blurRad="50800" dist="12700" dir="2700000">
              <a:srgbClr val="000000">
                <a:alpha val="8000"/>
              </a:srgbClr>
            </a:outerShdw>
          </a:effectLst>
        </p:spPr>
      </p:sp>
      <p:sp>
        <p:nvSpPr>
          <p:cNvPr id="5" name="Text 3"/>
          <p:cNvSpPr/>
          <p:nvPr/>
        </p:nvSpPr>
        <p:spPr>
          <a:xfrm>
            <a:off x="429768" y="896112"/>
            <a:ext cx="3931920" cy="32004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LangChain</a:t>
            </a:r>
            <a:endParaRPr lang="en-US" sz="1500" dirty="0"/>
          </a:p>
        </p:txBody>
      </p:sp>
      <p:sp>
        <p:nvSpPr>
          <p:cNvPr id="6" name="Text 4"/>
          <p:cNvSpPr/>
          <p:nvPr/>
        </p:nvSpPr>
        <p:spPr>
          <a:xfrm>
            <a:off x="429768" y="1243584"/>
            <a:ext cx="3931920" cy="74980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Industry standard agent framework. AgentExecutor manages tool loop automatically. Swappable LLM backends.</a:t>
            </a:r>
            <a:endParaRPr lang="en-US" sz="1100" dirty="0"/>
          </a:p>
        </p:txBody>
      </p:sp>
      <p:sp>
        <p:nvSpPr>
          <p:cNvPr id="7" name="Shape 5"/>
          <p:cNvSpPr/>
          <p:nvPr/>
        </p:nvSpPr>
        <p:spPr>
          <a:xfrm>
            <a:off x="4800600" y="804672"/>
            <a:ext cx="4206240" cy="1261872"/>
          </a:xfrm>
          <a:prstGeom prst="roundRect">
            <a:avLst>
              <a:gd name="adj" fmla="val 5072"/>
            </a:avLst>
          </a:prstGeom>
          <a:solidFill>
            <a:srgbClr val="FFFBEB"/>
          </a:solidFill>
          <a:ln/>
          <a:effectLst>
            <a:outerShdw sx="100000" sy="100000" kx="0" ky="0" algn="bl" rotWithShape="0" blurRad="50800" dist="12700" dir="2700000">
              <a:srgbClr val="000000">
                <a:alpha val="8000"/>
              </a:srgbClr>
            </a:outerShdw>
          </a:effectLst>
        </p:spPr>
      </p:sp>
      <p:sp>
        <p:nvSpPr>
          <p:cNvPr id="8" name="Text 6"/>
          <p:cNvSpPr/>
          <p:nvPr/>
        </p:nvSpPr>
        <p:spPr>
          <a:xfrm>
            <a:off x="4910328" y="896112"/>
            <a:ext cx="3931920" cy="32004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Groq (Llama 3)</a:t>
            </a:r>
            <a:endParaRPr lang="en-US" sz="1500" dirty="0"/>
          </a:p>
        </p:txBody>
      </p:sp>
      <p:sp>
        <p:nvSpPr>
          <p:cNvPr id="9" name="Text 7"/>
          <p:cNvSpPr/>
          <p:nvPr/>
        </p:nvSpPr>
        <p:spPr>
          <a:xfrm>
            <a:off x="4910328" y="1243584"/>
            <a:ext cx="3931920" cy="74980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Free tier, 70B parameters. temperature=0 for deterministic answers. Significantly faster than alternatives.</a:t>
            </a:r>
            <a:endParaRPr lang="en-US" sz="1100" dirty="0"/>
          </a:p>
        </p:txBody>
      </p:sp>
      <p:sp>
        <p:nvSpPr>
          <p:cNvPr id="10" name="Shape 8"/>
          <p:cNvSpPr/>
          <p:nvPr/>
        </p:nvSpPr>
        <p:spPr>
          <a:xfrm>
            <a:off x="320040" y="2221992"/>
            <a:ext cx="4206240" cy="1261872"/>
          </a:xfrm>
          <a:prstGeom prst="roundRect">
            <a:avLst>
              <a:gd name="adj" fmla="val 5072"/>
            </a:avLst>
          </a:prstGeom>
          <a:solidFill>
            <a:srgbClr val="F0F4FF"/>
          </a:solidFill>
          <a:ln/>
          <a:effectLst>
            <a:outerShdw sx="100000" sy="100000" kx="0" ky="0" algn="bl" rotWithShape="0" blurRad="50800" dist="12700" dir="2700000">
              <a:srgbClr val="000000">
                <a:alpha val="8000"/>
              </a:srgbClr>
            </a:outerShdw>
          </a:effectLst>
        </p:spPr>
      </p:sp>
      <p:sp>
        <p:nvSpPr>
          <p:cNvPr id="11" name="Text 9"/>
          <p:cNvSpPr/>
          <p:nvPr/>
        </p:nvSpPr>
        <p:spPr>
          <a:xfrm>
            <a:off x="429768" y="2313432"/>
            <a:ext cx="3931920" cy="32004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Databricks</a:t>
            </a:r>
            <a:endParaRPr lang="en-US" sz="1500" dirty="0"/>
          </a:p>
        </p:txBody>
      </p:sp>
      <p:sp>
        <p:nvSpPr>
          <p:cNvPr id="12" name="Text 10"/>
          <p:cNvSpPr/>
          <p:nvPr/>
        </p:nvSpPr>
        <p:spPr>
          <a:xfrm>
            <a:off x="429768" y="2660904"/>
            <a:ext cx="3931920" cy="74980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Industry standard in pharma and retail analytics. Serverless SQL scales automatically. Delta Tables = versioned data.</a:t>
            </a:r>
            <a:endParaRPr lang="en-US" sz="1100" dirty="0"/>
          </a:p>
        </p:txBody>
      </p:sp>
      <p:sp>
        <p:nvSpPr>
          <p:cNvPr id="13" name="Shape 11"/>
          <p:cNvSpPr/>
          <p:nvPr/>
        </p:nvSpPr>
        <p:spPr>
          <a:xfrm>
            <a:off x="4800600" y="2221992"/>
            <a:ext cx="4206240" cy="1261872"/>
          </a:xfrm>
          <a:prstGeom prst="roundRect">
            <a:avLst>
              <a:gd name="adj" fmla="val 5072"/>
            </a:avLst>
          </a:prstGeom>
          <a:solidFill>
            <a:srgbClr val="F0FDF4"/>
          </a:solidFill>
          <a:ln/>
          <a:effectLst>
            <a:outerShdw sx="100000" sy="100000" kx="0" ky="0" algn="bl" rotWithShape="0" blurRad="50800" dist="12700" dir="2700000">
              <a:srgbClr val="000000">
                <a:alpha val="8000"/>
              </a:srgbClr>
            </a:outerShdw>
          </a:effectLst>
        </p:spPr>
      </p:sp>
      <p:sp>
        <p:nvSpPr>
          <p:cNvPr id="14" name="Text 12"/>
          <p:cNvSpPr/>
          <p:nvPr/>
        </p:nvSpPr>
        <p:spPr>
          <a:xfrm>
            <a:off x="4910328" y="2313432"/>
            <a:ext cx="3931920" cy="32004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Streamlit</a:t>
            </a:r>
            <a:endParaRPr lang="en-US" sz="1500" dirty="0"/>
          </a:p>
        </p:txBody>
      </p:sp>
      <p:sp>
        <p:nvSpPr>
          <p:cNvPr id="15" name="Text 13"/>
          <p:cNvSpPr/>
          <p:nvPr/>
        </p:nvSpPr>
        <p:spPr>
          <a:xfrm>
            <a:off x="4910328" y="2660904"/>
            <a:ext cx="3931920" cy="74980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Fastest Python to shareable web app. Built-in chat components. Free deployment at streamlit.io with public URL.</a:t>
            </a:r>
            <a:endParaRPr lang="en-US" sz="1100" dirty="0"/>
          </a:p>
        </p:txBody>
      </p:sp>
      <p:sp>
        <p:nvSpPr>
          <p:cNvPr id="16" name="Shape 14"/>
          <p:cNvSpPr/>
          <p:nvPr/>
        </p:nvSpPr>
        <p:spPr>
          <a:xfrm>
            <a:off x="320040" y="3639312"/>
            <a:ext cx="4206240" cy="1261872"/>
          </a:xfrm>
          <a:prstGeom prst="roundRect">
            <a:avLst>
              <a:gd name="adj" fmla="val 5072"/>
            </a:avLst>
          </a:prstGeom>
          <a:solidFill>
            <a:srgbClr val="FFF1F2"/>
          </a:solidFill>
          <a:ln/>
          <a:effectLst>
            <a:outerShdw sx="100000" sy="100000" kx="0" ky="0" algn="bl" rotWithShape="0" blurRad="50800" dist="12700" dir="2700000">
              <a:srgbClr val="000000">
                <a:alpha val="8000"/>
              </a:srgbClr>
            </a:outerShdw>
          </a:effectLst>
        </p:spPr>
      </p:sp>
      <p:sp>
        <p:nvSpPr>
          <p:cNvPr id="17" name="Text 15"/>
          <p:cNvSpPr/>
          <p:nvPr/>
        </p:nvSpPr>
        <p:spPr>
          <a:xfrm>
            <a:off x="429768" y="3730752"/>
            <a:ext cx="3931920" cy="32004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Plotly Express</a:t>
            </a:r>
            <a:endParaRPr lang="en-US" sz="1500" dirty="0"/>
          </a:p>
        </p:txBody>
      </p:sp>
      <p:sp>
        <p:nvSpPr>
          <p:cNvPr id="18" name="Text 16"/>
          <p:cNvSpPr/>
          <p:nvPr/>
        </p:nvSpPr>
        <p:spPr>
          <a:xfrm>
            <a:off x="429768" y="4078224"/>
            <a:ext cx="3931920" cy="74980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Interactive charts in one line of code. Auto-renders in Streamlit. Bar, line, pie — all chart types covered.</a:t>
            </a:r>
            <a:endParaRPr lang="en-US" sz="1100" dirty="0"/>
          </a:p>
        </p:txBody>
      </p:sp>
      <p:sp>
        <p:nvSpPr>
          <p:cNvPr id="19" name="Shape 17"/>
          <p:cNvSpPr/>
          <p:nvPr/>
        </p:nvSpPr>
        <p:spPr>
          <a:xfrm>
            <a:off x="4800600" y="3639312"/>
            <a:ext cx="4206240" cy="1261872"/>
          </a:xfrm>
          <a:prstGeom prst="roundRect">
            <a:avLst>
              <a:gd name="adj" fmla="val 5072"/>
            </a:avLst>
          </a:prstGeom>
          <a:solidFill>
            <a:srgbClr val="F5F3FF"/>
          </a:solidFill>
          <a:ln/>
          <a:effectLst>
            <a:outerShdw sx="100000" sy="100000" kx="0" ky="0" algn="bl" rotWithShape="0" blurRad="50800" dist="12700" dir="2700000">
              <a:srgbClr val="000000">
                <a:alpha val="8000"/>
              </a:srgbClr>
            </a:outerShdw>
          </a:effectLst>
        </p:spPr>
      </p:sp>
      <p:sp>
        <p:nvSpPr>
          <p:cNvPr id="20" name="Text 18"/>
          <p:cNvSpPr/>
          <p:nvPr/>
        </p:nvSpPr>
        <p:spPr>
          <a:xfrm>
            <a:off x="4910328" y="3730752"/>
            <a:ext cx="3931920" cy="320040"/>
          </a:xfrm>
          <a:prstGeom prst="rect">
            <a:avLst/>
          </a:prstGeom>
          <a:noFill/>
          <a:ln/>
        </p:spPr>
        <p:txBody>
          <a:bodyPr wrap="square" rtlCol="0" anchor="ctr"/>
          <a:lstStyle/>
          <a:p>
            <a:pPr indent="0" marL="0">
              <a:buNone/>
            </a:pPr>
            <a:r>
              <a:rPr lang="en-US" sz="1500" b="1" dirty="0">
                <a:solidFill>
                  <a:srgbClr val="1A1A2E"/>
                </a:solidFill>
                <a:latin typeface="Cambria" pitchFamily="34" charset="0"/>
                <a:ea typeface="Cambria" pitchFamily="34" charset="-122"/>
                <a:cs typeface="Cambria" pitchFamily="34" charset="-120"/>
              </a:rPr>
              <a:t>Pandas</a:t>
            </a:r>
            <a:endParaRPr lang="en-US" sz="1500" dirty="0"/>
          </a:p>
        </p:txBody>
      </p:sp>
      <p:sp>
        <p:nvSpPr>
          <p:cNvPr id="21" name="Text 19"/>
          <p:cNvSpPr/>
          <p:nvPr/>
        </p:nvSpPr>
        <p:spPr>
          <a:xfrm>
            <a:off x="4910328" y="4078224"/>
            <a:ext cx="3931920" cy="749808"/>
          </a:xfrm>
          <a:prstGeom prst="rect">
            <a:avLst/>
          </a:prstGeom>
          <a:noFill/>
          <a:ln/>
        </p:spPr>
        <p:txBody>
          <a:bodyPr wrap="square" rtlCol="0" anchor="ctr"/>
          <a:lstStyle/>
          <a:p>
            <a:pPr indent="0" marL="0">
              <a:buNone/>
            </a:pPr>
            <a:r>
              <a:rPr lang="en-US" sz="1100" dirty="0">
                <a:solidFill>
                  <a:srgbClr val="374151"/>
                </a:solidFill>
                <a:latin typeface="Calibri" pitchFamily="34" charset="0"/>
                <a:ea typeface="Calibri" pitchFamily="34" charset="-122"/>
                <a:cs typeface="Calibri" pitchFamily="34" charset="-120"/>
              </a:rPr>
              <a:t>Formats Databricks SQL results into readable tables for the LLM. Bridge between raw query output and agent tools.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A1A2E"/>
        </a:solidFill>
      </p:bgPr>
    </p:bg>
    <p:spTree>
      <p:nvGrpSpPr>
        <p:cNvPr id="1" name=""/>
        <p:cNvGrpSpPr/>
        <p:nvPr/>
      </p:nvGrpSpPr>
      <p:grpSpPr>
        <a:xfrm>
          <a:off x="0" y="0"/>
          <a:ext cx="0" cy="0"/>
          <a:chOff x="0" y="0"/>
          <a:chExt cx="0" cy="0"/>
        </a:xfrm>
      </p:grpSpPr>
      <p:sp>
        <p:nvSpPr>
          <p:cNvPr id="2" name="Shape 0"/>
          <p:cNvSpPr/>
          <p:nvPr/>
        </p:nvSpPr>
        <p:spPr>
          <a:xfrm>
            <a:off x="6400800" y="-914400"/>
            <a:ext cx="3657600" cy="3657600"/>
          </a:xfrm>
          <a:prstGeom prst="ellipse">
            <a:avLst/>
          </a:prstGeom>
          <a:solidFill>
            <a:srgbClr val="0F3460">
              <a:alpha val="20000"/>
            </a:srgbClr>
          </a:solidFill>
          <a:ln w="12700">
            <a:solidFill>
              <a:srgbClr val="0F3460">
                <a:alpha val="20000"/>
              </a:srgbClr>
            </a:solidFill>
            <a:prstDash val="solid"/>
          </a:ln>
        </p:spPr>
      </p:sp>
      <p:sp>
        <p:nvSpPr>
          <p:cNvPr id="3" name="Shape 1"/>
          <p:cNvSpPr/>
          <p:nvPr/>
        </p:nvSpPr>
        <p:spPr>
          <a:xfrm>
            <a:off x="-914400" y="3200400"/>
            <a:ext cx="2743200" cy="2743200"/>
          </a:xfrm>
          <a:prstGeom prst="ellipse">
            <a:avLst/>
          </a:prstGeom>
          <a:solidFill>
            <a:srgbClr val="533483">
              <a:alpha val="20000"/>
            </a:srgbClr>
          </a:solidFill>
          <a:ln w="12700">
            <a:solidFill>
              <a:srgbClr val="533483">
                <a:alpha val="20000"/>
              </a:srgbClr>
            </a:solidFill>
            <a:prstDash val="solid"/>
          </a:ln>
        </p:spPr>
      </p:sp>
      <p:sp>
        <p:nvSpPr>
          <p:cNvPr id="4" name="Text 2"/>
          <p:cNvSpPr/>
          <p:nvPr/>
        </p:nvSpPr>
        <p:spPr>
          <a:xfrm>
            <a:off x="457200" y="731520"/>
            <a:ext cx="8229600" cy="914400"/>
          </a:xfrm>
          <a:prstGeom prst="rect">
            <a:avLst/>
          </a:prstGeom>
          <a:noFill/>
          <a:ln/>
        </p:spPr>
        <p:txBody>
          <a:bodyPr wrap="square" rtlCol="0" anchor="ctr"/>
          <a:lstStyle/>
          <a:p>
            <a:pPr algn="ctr" indent="0" marL="0">
              <a:buNone/>
            </a:pPr>
            <a:r>
              <a:rPr lang="en-US" sz="4400" b="1" dirty="0">
                <a:solidFill>
                  <a:srgbClr val="FFFFFF"/>
                </a:solidFill>
                <a:latin typeface="Cambria" pitchFamily="34" charset="0"/>
                <a:ea typeface="Cambria" pitchFamily="34" charset="-122"/>
                <a:cs typeface="Cambria" pitchFamily="34" charset="-120"/>
              </a:rPr>
              <a:t>Live Demo</a:t>
            </a:r>
            <a:endParaRPr lang="en-US" sz="4400" dirty="0"/>
          </a:p>
        </p:txBody>
      </p:sp>
      <p:sp>
        <p:nvSpPr>
          <p:cNvPr id="5" name="Text 3"/>
          <p:cNvSpPr/>
          <p:nvPr/>
        </p:nvSpPr>
        <p:spPr>
          <a:xfrm>
            <a:off x="457200" y="1645920"/>
            <a:ext cx="8229600" cy="457200"/>
          </a:xfrm>
          <a:prstGeom prst="rect">
            <a:avLst/>
          </a:prstGeom>
          <a:noFill/>
          <a:ln/>
        </p:spPr>
        <p:txBody>
          <a:bodyPr wrap="square" rtlCol="0" anchor="ctr"/>
          <a:lstStyle/>
          <a:p>
            <a:pPr algn="ctr" indent="0" marL="0">
              <a:buNone/>
            </a:pPr>
            <a:r>
              <a:rPr lang="en-US" sz="1600" i="1" dirty="0">
                <a:solidFill>
                  <a:srgbClr val="A0BFFF"/>
                </a:solidFill>
                <a:latin typeface="Calibri" pitchFamily="34" charset="0"/>
                <a:ea typeface="Calibri" pitchFamily="34" charset="-122"/>
                <a:cs typeface="Calibri" pitchFamily="34" charset="-120"/>
              </a:rPr>
              <a:t>Ask the agent anything about the retail data</a:t>
            </a:r>
            <a:endParaRPr lang="en-US" sz="1600" dirty="0"/>
          </a:p>
        </p:txBody>
      </p:sp>
      <p:sp>
        <p:nvSpPr>
          <p:cNvPr id="6" name="Shape 4"/>
          <p:cNvSpPr/>
          <p:nvPr/>
        </p:nvSpPr>
        <p:spPr>
          <a:xfrm>
            <a:off x="914400" y="2331720"/>
            <a:ext cx="7315200" cy="493776"/>
          </a:xfrm>
          <a:prstGeom prst="roundRect">
            <a:avLst>
              <a:gd name="adj" fmla="val 11111"/>
            </a:avLst>
          </a:prstGeom>
          <a:solidFill>
            <a:srgbClr val="0F3460">
              <a:alpha val="30000"/>
            </a:srgbClr>
          </a:solidFill>
          <a:ln w="6350">
            <a:solidFill>
              <a:srgbClr val="60A5FA"/>
            </a:solidFill>
            <a:prstDash val="solid"/>
          </a:ln>
        </p:spPr>
      </p:sp>
      <p:sp>
        <p:nvSpPr>
          <p:cNvPr id="7" name="Text 5"/>
          <p:cNvSpPr/>
          <p:nvPr/>
        </p:nvSpPr>
        <p:spPr>
          <a:xfrm>
            <a:off x="1051560" y="2377440"/>
            <a:ext cx="7040880" cy="402336"/>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"Which customer segments have the most customers?"</a:t>
            </a:r>
            <a:endParaRPr lang="en-US" sz="1300" dirty="0"/>
          </a:p>
        </p:txBody>
      </p:sp>
      <p:sp>
        <p:nvSpPr>
          <p:cNvPr id="8" name="Shape 6"/>
          <p:cNvSpPr/>
          <p:nvPr/>
        </p:nvSpPr>
        <p:spPr>
          <a:xfrm>
            <a:off x="914400" y="2953512"/>
            <a:ext cx="7315200" cy="493776"/>
          </a:xfrm>
          <a:prstGeom prst="roundRect">
            <a:avLst>
              <a:gd name="adj" fmla="val 11111"/>
            </a:avLst>
          </a:prstGeom>
          <a:solidFill>
            <a:srgbClr val="0F3460">
              <a:alpha val="30000"/>
            </a:srgbClr>
          </a:solidFill>
          <a:ln w="6350">
            <a:solidFill>
              <a:srgbClr val="60A5FA"/>
            </a:solidFill>
            <a:prstDash val="solid"/>
          </a:ln>
        </p:spPr>
      </p:sp>
      <p:sp>
        <p:nvSpPr>
          <p:cNvPr id="9" name="Text 7"/>
          <p:cNvSpPr/>
          <p:nvPr/>
        </p:nvSpPr>
        <p:spPr>
          <a:xfrm>
            <a:off x="1051560" y="2999232"/>
            <a:ext cx="7040880" cy="402336"/>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"What are the top product categories by revenue?"</a:t>
            </a:r>
            <a:endParaRPr lang="en-US" sz="1300" dirty="0"/>
          </a:p>
        </p:txBody>
      </p:sp>
      <p:sp>
        <p:nvSpPr>
          <p:cNvPr id="10" name="Shape 8"/>
          <p:cNvSpPr/>
          <p:nvPr/>
        </p:nvSpPr>
        <p:spPr>
          <a:xfrm>
            <a:off x="914400" y="3575304"/>
            <a:ext cx="7315200" cy="493776"/>
          </a:xfrm>
          <a:prstGeom prst="roundRect">
            <a:avLst>
              <a:gd name="adj" fmla="val 11111"/>
            </a:avLst>
          </a:prstGeom>
          <a:solidFill>
            <a:srgbClr val="0F3460">
              <a:alpha val="30000"/>
            </a:srgbClr>
          </a:solidFill>
          <a:ln w="6350">
            <a:solidFill>
              <a:srgbClr val="60A5FA"/>
            </a:solidFill>
            <a:prstDash val="solid"/>
          </a:ln>
        </p:spPr>
      </p:sp>
      <p:sp>
        <p:nvSpPr>
          <p:cNvPr id="11" name="Text 9"/>
          <p:cNvSpPr/>
          <p:nvPr/>
        </p:nvSpPr>
        <p:spPr>
          <a:xfrm>
            <a:off x="1051560" y="3621024"/>
            <a:ext cx="7040880" cy="402336"/>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"Which promotions are giving the best ROI?"</a:t>
            </a:r>
            <a:endParaRPr lang="en-US" sz="1300" dirty="0"/>
          </a:p>
        </p:txBody>
      </p:sp>
      <p:sp>
        <p:nvSpPr>
          <p:cNvPr id="12" name="Shape 10"/>
          <p:cNvSpPr/>
          <p:nvPr/>
        </p:nvSpPr>
        <p:spPr>
          <a:xfrm>
            <a:off x="914400" y="4197096"/>
            <a:ext cx="7315200" cy="493776"/>
          </a:xfrm>
          <a:prstGeom prst="roundRect">
            <a:avLst>
              <a:gd name="adj" fmla="val 11111"/>
            </a:avLst>
          </a:prstGeom>
          <a:solidFill>
            <a:srgbClr val="0F3460">
              <a:alpha val="30000"/>
            </a:srgbClr>
          </a:solidFill>
          <a:ln w="6350">
            <a:solidFill>
              <a:srgbClr val="60A5FA"/>
            </a:solidFill>
            <a:prstDash val="solid"/>
          </a:ln>
        </p:spPr>
      </p:sp>
      <p:sp>
        <p:nvSpPr>
          <p:cNvPr id="13" name="Text 11"/>
          <p:cNvSpPr/>
          <p:nvPr/>
        </p:nvSpPr>
        <p:spPr>
          <a:xfrm>
            <a:off x="1051560" y="4242816"/>
            <a:ext cx="7040880" cy="402336"/>
          </a:xfrm>
          <a:prstGeom prst="rect">
            <a:avLst/>
          </a:prstGeom>
          <a:noFill/>
          <a:ln/>
        </p:spPr>
        <p:txBody>
          <a:bodyPr wrap="square" rtlCol="0" anchor="ctr"/>
          <a:lstStyle/>
          <a:p>
            <a:pPr indent="0" marL="0">
              <a:buNone/>
            </a:pPr>
            <a:r>
              <a:rPr lang="en-US" sz="1300" i="1" dirty="0">
                <a:solidFill>
                  <a:srgbClr val="FFFFFF"/>
                </a:solidFill>
                <a:latin typeface="Calibri" pitchFamily="34" charset="0"/>
                <a:ea typeface="Calibri" pitchFamily="34" charset="-122"/>
                <a:cs typeface="Calibri" pitchFamily="34" charset="-120"/>
              </a:rPr>
              <a:t>"Which region has the most at-risk customers?"</a:t>
            </a:r>
            <a:endParaRPr lang="en-US" sz="1300" dirty="0"/>
          </a:p>
        </p:txBody>
      </p:sp>
      <p:sp>
        <p:nvSpPr>
          <p:cNvPr id="14" name="Text 12"/>
          <p:cNvSpPr/>
          <p:nvPr/>
        </p:nvSpPr>
        <p:spPr>
          <a:xfrm>
            <a:off x="457200" y="4846320"/>
            <a:ext cx="8229600" cy="201168"/>
          </a:xfrm>
          <a:prstGeom prst="rect">
            <a:avLst/>
          </a:prstGeom>
          <a:noFill/>
          <a:ln/>
        </p:spPr>
        <p:txBody>
          <a:bodyPr wrap="square" rtlCol="0" anchor="ctr"/>
          <a:lstStyle/>
          <a:p>
            <a:pPr algn="ctr" indent="0" marL="0">
              <a:buNone/>
            </a:pPr>
            <a:r>
              <a:rPr lang="en-US" sz="1100" dirty="0">
                <a:solidFill>
                  <a:srgbClr val="60A5FA"/>
                </a:solidFill>
                <a:latin typeface="Calibri" pitchFamily="34" charset="0"/>
                <a:ea typeface="Calibri" pitchFamily="34" charset="-122"/>
                <a:cs typeface="Calibri" pitchFamily="34" charset="-120"/>
              </a:rPr>
              <a:t>github.com/dteli19/Retail-AI-Agent</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Retail Analytics AI Agent</dc:title>
  <dc:subject>PptxGenJS Presentation</dc:subject>
  <dc:creator>Dhwani Teli</dc:creator>
  <cp:lastModifiedBy>Dhwani Teli</cp:lastModifiedBy>
  <cp:revision>1</cp:revision>
  <dcterms:created xsi:type="dcterms:W3CDTF">2026-06-11T23:01:20Z</dcterms:created>
  <dcterms:modified xsi:type="dcterms:W3CDTF">2026-06-11T23:01:20Z</dcterms:modified>
</cp:coreProperties>
</file>